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0.xml" ContentType="application/vnd.openxmlformats-officedocument.presentationml.slide+xml"/>
  <Override PartName="/ppt/slides/slide38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9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52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56.xml" ContentType="application/vnd.openxmlformats-officedocument.presentationml.slide+xml"/>
  <Override PartName="/ppt/slides/slide50.xml" ContentType="application/vnd.openxmlformats-officedocument.presentationml.slide+xml"/>
  <Override PartName="/ppt/slides/slide24.xml" ContentType="application/vnd.openxmlformats-officedocument.presentationml.slide+xml"/>
  <Override PartName="/ppt/slides/slide41.xml" ContentType="application/vnd.openxmlformats-officedocument.presentationml.slide+xml"/>
  <Override PartName="/ppt/slides/slide23.xml" ContentType="application/vnd.openxmlformats-officedocument.presentationml.slide+xml"/>
  <Override PartName="/ppt/slides/slide59.xml" ContentType="application/vnd.openxmlformats-officedocument.presentationml.slide+xml"/>
  <Override PartName="/ppt/slides/slide12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62.xml" ContentType="application/vnd.openxmlformats-officedocument.presentationml.slide+xml"/>
  <Override PartName="/ppt/slides/slide48.xml" ContentType="application/vnd.openxmlformats-officedocument.presentationml.slide+xml"/>
  <Override PartName="/ppt/slides/slide63.xml" ContentType="application/vnd.openxmlformats-officedocument.presentationml.slide+xml"/>
  <Override PartName="/ppt/slides/slide67.xml" ContentType="application/vnd.openxmlformats-officedocument.presentationml.slide+xml"/>
  <Override PartName="/ppt/slides/slide35.xml" ContentType="application/vnd.openxmlformats-officedocument.presentationml.slide+xml"/>
  <Override PartName="/ppt/slides/slide80.xml" ContentType="application/vnd.openxmlformats-officedocument.presentationml.slide+xml"/>
  <Override PartName="/ppt/slides/slide64.xml" ContentType="application/vnd.openxmlformats-officedocument.presentationml.slide+xml"/>
  <Override PartName="/ppt/slides/slide29.xml" ContentType="application/vnd.openxmlformats-officedocument.presentationml.slide+xml"/>
  <Override PartName="/ppt/slides/slide61.xml" ContentType="application/vnd.openxmlformats-officedocument.presentationml.slide+xml"/>
  <Override PartName="/ppt/slides/slide79.xml" ContentType="application/vnd.openxmlformats-officedocument.presentationml.slide+xml"/>
  <Override PartName="/ppt/slides/slide78.xml" ContentType="application/vnd.openxmlformats-officedocument.presentationml.slide+xml"/>
  <Override PartName="/ppt/slides/slide14.xml" ContentType="application/vnd.openxmlformats-officedocument.presentationml.slide+xml"/>
  <Override PartName="/ppt/slides/slide73.xml" ContentType="application/vnd.openxmlformats-officedocument.presentationml.slide+xml"/>
  <Override PartName="/ppt/slides/slide77.xml" ContentType="application/vnd.openxmlformats-officedocument.presentationml.slide+xml"/>
  <Override PartName="/ppt/slides/slide37.xml" ContentType="application/vnd.openxmlformats-officedocument.presentationml.slide+xml"/>
  <Override PartName="/ppt/slides/slide69.xml" ContentType="application/vnd.openxmlformats-officedocument.presentationml.slide+xml"/>
  <Override PartName="/ppt/slides/slide60.xml" ContentType="application/vnd.openxmlformats-officedocument.presentationml.slide+xml"/>
  <Override PartName="/ppt/slides/slide21.xml" ContentType="application/vnd.openxmlformats-officedocument.presentationml.slide+xml"/>
  <Override PartName="/ppt/slides/slide68.xml" ContentType="application/vnd.openxmlformats-officedocument.presentationml.slide+xml"/>
  <Override PartName="/ppt/slides/slide86.xml" ContentType="application/vnd.openxmlformats-officedocument.presentationml.slide+xml"/>
  <Override PartName="/ppt/slides/slide71.xml" ContentType="application/vnd.openxmlformats-officedocument.presentationml.slide+xml"/>
  <Override PartName="/ppt/slides/slide65.xml" ContentType="application/vnd.openxmlformats-officedocument.presentationml.slide+xml"/>
  <Override PartName="/ppt/slides/slide85.xml" ContentType="application/vnd.openxmlformats-officedocument.presentationml.slide+xml"/>
  <Override PartName="/ppt/slides/slide72.xml" ContentType="application/vnd.openxmlformats-officedocument.presentationml.slide+xml"/>
  <Override PartName="/ppt/slides/slide75.xml" ContentType="application/vnd.openxmlformats-officedocument.presentationml.slide+xml"/>
  <Override PartName="/ppt/slides/slide49.xml" ContentType="application/vnd.openxmlformats-officedocument.presentationml.slide+xml"/>
  <Override PartName="/ppt/slides/slide66.xml" ContentType="application/vnd.openxmlformats-officedocument.presentationml.slide+xml"/>
  <Override PartName="/ppt/slides/slide2.xml" ContentType="application/vnd.openxmlformats-officedocument.presentationml.slide+xml"/>
  <Override PartName="/ppt/slides/slide76.xml" ContentType="application/vnd.openxmlformats-officedocument.presentationml.slide+xml"/>
  <Override PartName="/ppt/slides/slide28.xml" ContentType="application/vnd.openxmlformats-officedocument.presentationml.slide+xml"/>
  <Override PartName="/ppt/slides/slide70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58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10.xml" ContentType="application/vnd.openxmlformats-officedocument.presentationml.slide+xml"/>
  <Override PartName="/ppt/slides/slide16.xml" ContentType="application/vnd.openxmlformats-officedocument.presentationml.slide+xml"/>
  <Override PartName="/ppt/slides/slide47.xml" ContentType="application/vnd.openxmlformats-officedocument.presentationml.slide+xml"/>
  <Override PartName="/ppt/slides/slide17.xml" ContentType="application/vnd.openxmlformats-officedocument.presentationml.slide+xml"/>
  <Override PartName="/ppt/slides/slide34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57.xml" ContentType="application/vnd.openxmlformats-officedocument.presentationml.slide+xml"/>
  <Override PartName="/ppt/slides/slide20.xml" ContentType="application/vnd.openxmlformats-officedocument.presentationml.slide+xml"/>
  <Override PartName="/ppt/slides/slide83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84.xml" ContentType="application/vnd.openxmlformats-officedocument.presentationml.slide+xml"/>
  <Override PartName="/ppt/slides/slide26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74.xml" ContentType="application/vnd.openxmlformats-officedocument.presentationml.slide+xml"/>
  <Override PartName="/ppt/slides/slide22.xml" ContentType="application/vnd.openxmlformats-officedocument.presentationml.slide+xml"/>
  <Override PartName="/ppt/notesSlides/notesSlide46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28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29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b">
            <a:noAutofit/>
          </a:bodyPr>
          <a:p>
            <a:pPr indent="0"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0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6D9EA93-7F41-4799-AFC3-7DF7777A207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0.xml.rels><?xml version="1.0" encoding="UTF-8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
</Relationships>
</file>

<file path=ppt/notesSlides/_rels/notesSlide62.xml.rels><?xml version="1.0" encoding="UTF-8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
</Relationships>
</file>

<file path=ppt/notesSlides/_rels/notesSlide63.xml.rels><?xml version="1.0" encoding="UTF-8"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
</Relationships>
</file>

<file path=ppt/notesSlides/_rels/notesSlide64.xml.rels><?xml version="1.0" encoding="UTF-8"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
</Relationships>
</file>

<file path=ppt/notesSlides/_rels/notesSlide65.xml.rels><?xml version="1.0" encoding="UTF-8"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
</Relationships>
</file>

<file path=ppt/notesSlides/_rels/notesSlide66.xml.rels><?xml version="1.0" encoding="UTF-8"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
</Relationships>
</file>

<file path=ppt/notesSlides/_rels/notesSlide67.xml.rels><?xml version="1.0" encoding="UTF-8"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
</Relationships>
</file>

<file path=ppt/notesSlides/_rels/notesSlide68.xml.rels><?xml version="1.0" encoding="UTF-8"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
</Relationships>
</file>

<file path=ppt/notesSlides/_rels/notesSlide69.xml.rels><?xml version="1.0" encoding="UTF-8"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
</Relationships>
</file>

<file path=ppt/notesSlides/_rels/notesSlide70.xml.rels><?xml version="1.0" encoding="UTF-8"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
</Relationships>
</file>

<file path=ppt/notesSlides/_rels/notesSlide71.xml.rels><?xml version="1.0" encoding="UTF-8"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
</Relationships>
</file>

<file path=ppt/notesSlides/_rels/notesSlide72.xml.rels><?xml version="1.0" encoding="UTF-8"?>
<Relationships xmlns="http://schemas.openxmlformats.org/package/2006/relationships"><Relationship Id="rId1" Type="http://schemas.openxmlformats.org/officeDocument/2006/relationships/slide" Target="../slides/slide72.xml"/><Relationship Id="rId2" Type="http://schemas.openxmlformats.org/officeDocument/2006/relationships/notesMaster" Target="../notesMasters/notesMaster1.xml"/>
</Relationships>
</file>

<file path=ppt/notesSlides/_rels/notesSlide73.xml.rels><?xml version="1.0" encoding="UTF-8"?>
<Relationships xmlns="http://schemas.openxmlformats.org/package/2006/relationships"><Relationship Id="rId1" Type="http://schemas.openxmlformats.org/officeDocument/2006/relationships/slide" Target="../slides/slide73.xml"/><Relationship Id="rId2" Type="http://schemas.openxmlformats.org/officeDocument/2006/relationships/notesMaster" Target="../notesMasters/notesMaster1.xml"/>
</Relationships>
</file>

<file path=ppt/notesSlides/_rels/notesSlide74.xml.rels><?xml version="1.0" encoding="UTF-8"?>
<Relationships xmlns="http://schemas.openxmlformats.org/package/2006/relationships"><Relationship Id="rId1" Type="http://schemas.openxmlformats.org/officeDocument/2006/relationships/slide" Target="../slides/slide74.xml"/><Relationship Id="rId2" Type="http://schemas.openxmlformats.org/officeDocument/2006/relationships/notesMaster" Target="../notesMasters/notesMaster1.xml"/>
</Relationships>
</file>

<file path=ppt/notesSlides/_rels/notesSlide75.xml.rels><?xml version="1.0" encoding="UTF-8"?>
<Relationships xmlns="http://schemas.openxmlformats.org/package/2006/relationships"><Relationship Id="rId1" Type="http://schemas.openxmlformats.org/officeDocument/2006/relationships/slide" Target="../slides/slide75.xml"/><Relationship Id="rId2" Type="http://schemas.openxmlformats.org/officeDocument/2006/relationships/notesMaster" Target="../notesMasters/notesMaster1.xml"/>
</Relationships>
</file>

<file path=ppt/notesSlides/_rels/notesSlide76.xml.rels><?xml version="1.0" encoding="UTF-8"?>
<Relationships xmlns="http://schemas.openxmlformats.org/package/2006/relationships"><Relationship Id="rId1" Type="http://schemas.openxmlformats.org/officeDocument/2006/relationships/slide" Target="../slides/slide76.xml"/><Relationship Id="rId2" Type="http://schemas.openxmlformats.org/officeDocument/2006/relationships/notesMaster" Target="../notesMasters/notesMaster1.xml"/>
</Relationships>
</file>

<file path=ppt/notesSlides/_rels/notesSlide77.xml.rels><?xml version="1.0" encoding="UTF-8"?>
<Relationships xmlns="http://schemas.openxmlformats.org/package/2006/relationships"><Relationship Id="rId1" Type="http://schemas.openxmlformats.org/officeDocument/2006/relationships/slide" Target="../slides/slide77.xml"/><Relationship Id="rId2" Type="http://schemas.openxmlformats.org/officeDocument/2006/relationships/notesMaster" Target="../notesMasters/notesMaster1.xml"/>
</Relationships>
</file>

<file path=ppt/notesSlides/_rels/notesSlide78.xml.rels><?xml version="1.0" encoding="UTF-8"?>
<Relationships xmlns="http://schemas.openxmlformats.org/package/2006/relationships"><Relationship Id="rId1" Type="http://schemas.openxmlformats.org/officeDocument/2006/relationships/slide" Target="../slides/slide78.xml"/><Relationship Id="rId2" Type="http://schemas.openxmlformats.org/officeDocument/2006/relationships/notesMaster" Target="../notesMasters/notesMaster1.xml"/>
</Relationships>
</file>

<file path=ppt/notesSlides/_rels/notesSlide79.xml.rels><?xml version="1.0" encoding="UTF-8"?>
<Relationships xmlns="http://schemas.openxmlformats.org/package/2006/relationships"><Relationship Id="rId1" Type="http://schemas.openxmlformats.org/officeDocument/2006/relationships/slide" Target="../slides/slide79.xml"/><Relationship Id="rId2" Type="http://schemas.openxmlformats.org/officeDocument/2006/relationships/notesMaster" Target="../notesMasters/notesMaster1.xml"/>
</Relationships>
</file>

<file path=ppt/notesSlides/_rels/notesSlide80.xml.rels><?xml version="1.0" encoding="UTF-8"?>
<Relationships xmlns="http://schemas.openxmlformats.org/package/2006/relationships"><Relationship Id="rId1" Type="http://schemas.openxmlformats.org/officeDocument/2006/relationships/slide" Target="../slides/slide80.xml"/><Relationship Id="rId2" Type="http://schemas.openxmlformats.org/officeDocument/2006/relationships/notesMaster" Target="../notesMasters/notesMaster1.xml"/>
</Relationships>
</file>

<file path=ppt/notesSlides/_rels/notesSlide81.xml.rels><?xml version="1.0" encoding="UTF-8"?>
<Relationships xmlns="http://schemas.openxmlformats.org/package/2006/relationships"><Relationship Id="rId1" Type="http://schemas.openxmlformats.org/officeDocument/2006/relationships/slide" Target="../slides/slide81.xml"/><Relationship Id="rId2" Type="http://schemas.openxmlformats.org/officeDocument/2006/relationships/notesMaster" Target="../notesMasters/notesMaster1.xml"/>
</Relationships>
</file>

<file path=ppt/notesSlides/_rels/notesSlide82.xml.rels><?xml version="1.0" encoding="UTF-8"?>
<Relationships xmlns="http://schemas.openxmlformats.org/package/2006/relationships"><Relationship Id="rId1" Type="http://schemas.openxmlformats.org/officeDocument/2006/relationships/slide" Target="../slides/slide82.xml"/><Relationship Id="rId2" Type="http://schemas.openxmlformats.org/officeDocument/2006/relationships/notesMaster" Target="../notesMasters/notesMaster1.xml"/>
</Relationships>
</file>

<file path=ppt/notesSlides/_rels/notesSlide83.xml.rels><?xml version="1.0" encoding="UTF-8"?>
<Relationships xmlns="http://schemas.openxmlformats.org/package/2006/relationships"><Relationship Id="rId1" Type="http://schemas.openxmlformats.org/officeDocument/2006/relationships/slide" Target="../slides/slide83.xml"/><Relationship Id="rId2" Type="http://schemas.openxmlformats.org/officeDocument/2006/relationships/notesMaster" Target="../notesMasters/notesMaster1.xml"/>
</Relationships>
</file>

<file path=ppt/notesSlides/_rels/notesSlide84.xml.rels><?xml version="1.0" encoding="UTF-8"?>
<Relationships xmlns="http://schemas.openxmlformats.org/package/2006/relationships"><Relationship Id="rId1" Type="http://schemas.openxmlformats.org/officeDocument/2006/relationships/slide" Target="../slides/slide84.xml"/><Relationship Id="rId2" Type="http://schemas.openxmlformats.org/officeDocument/2006/relationships/notesMaster" Target="../notesMasters/notesMaster1.xml"/>
</Relationships>
</file>

<file path=ppt/notesSlides/_rels/notesSlide85.xml.rels><?xml version="1.0" encoding="UTF-8"?>
<Relationships xmlns="http://schemas.openxmlformats.org/package/2006/relationships"><Relationship Id="rId1" Type="http://schemas.openxmlformats.org/officeDocument/2006/relationships/slide" Target="../slides/slide85.xml"/><Relationship Id="rId2" Type="http://schemas.openxmlformats.org/officeDocument/2006/relationships/notesMaster" Target="../notesMasters/notesMaster1.xml"/>
</Relationships>
</file>

<file path=ppt/notesSlides/_rels/notesSlide86.xml.rels><?xml version="1.0" encoding="UTF-8"?>
<Relationships xmlns="http://schemas.openxmlformats.org/package/2006/relationships"><Relationship Id="rId1" Type="http://schemas.openxmlformats.org/officeDocument/2006/relationships/slide" Target="../slides/slide8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D6CF0BCB-6B5F-4759-B5A1-BC900ED6AB2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2960" cy="400860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D776E323-925B-4EFD-ABDC-529EBC2EBDA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69BBD7FD-3EA3-468C-91FC-8DB5B4F28C1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E02D3A40-AFE5-4FB9-9621-A3091A6134E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E8AC61FF-BB6E-4D28-839B-40CDB4AF325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B47B7CCC-B25D-43A0-895F-BA5212AD7E9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362E4A77-9EB6-4490-B46F-10F65869EEA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C2E1EEF6-44F1-4D21-9B22-BE8E65FE630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70A1C859-D415-41F8-AE7B-11897858860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55C0AEE0-BDA1-45B9-BDD9-77DCAD61508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5540FFD3-EB94-41E3-BFC1-AAB218C5692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B38C0A73-DE6C-49DE-8DAC-4545BCED532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65B697A0-56CA-4E4A-B191-929F0FD3AD4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9A02A03B-AB09-4797-A517-15263CDBA23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5E848F66-042C-4203-AF5A-A39FC5B1BAB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E72F3BE7-88D4-43E2-9078-1C916640A68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6EEC04CF-07CE-4856-8B17-35AD0D44DCB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E6D524C4-780B-4759-8CD7-73572809D7F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96CE78A2-95AB-41EC-9207-AE831C514DF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EDE05651-A25D-45F6-AC6A-419EBBAF38D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1258BAE4-4076-4CA3-8C44-F26EDEF765A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DE327F38-76C0-4467-A381-8306068D9F8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684B79A5-6091-4176-992A-AC79DE003EA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73A3AE60-5E0B-40E8-95E0-297D205BC51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0B532C6E-35B8-43B2-B395-E6E69DF684F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B90B0D97-313F-479C-A77E-BF0C6C316FD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02300431-55D8-40E2-B9CD-BEA8C1D9825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ECC8E480-6AC6-416C-BFDE-6A947A3B301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0E625438-4DE9-4F63-B8FE-DDA6A3DAF2B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7EE6E3AA-44BF-4A99-9470-9765211FC02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CCF1146E-4AB4-48D9-928D-8226A962C13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C74551B5-EC39-4A0F-9A3D-3758F371435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E5FDFCE5-6AA1-48CF-BED5-D65E5957D93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FA534D80-B241-40BF-8F11-64FEB842993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986206EA-451B-4C36-807F-45E8FB6C740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8DB65ECE-92A1-41A6-98A9-EB5837FF9B2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0E19891F-5BB4-41B2-8500-2FDDD3BD410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760271A4-CE89-4E81-B89B-0C684F79F17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9B669F81-9569-43E3-B3E7-3815F88E874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59B9630C-5EC7-4CC8-A0B3-836A5835B1B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E2DB206A-D8C0-43FC-97EC-DB1820DF4BD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F7B57488-7004-4989-8DBB-F4A88815FB6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6ECB93C7-D285-43B8-8059-C6BC38F6877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3C2A1578-0AA4-41FB-98E1-26B4A50145A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8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4155D862-F950-4945-B64D-116E9E123B3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8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6D48F77F-44C0-4EFC-990A-4F634336BEA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5E746F2D-7838-4355-A092-DAF735626A6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17E5DAD5-686E-40FE-B9F8-70329D8B0A8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5671ED1D-91AC-4EB7-8B99-92B9C043FEE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6B9E426D-2429-4C56-B9D7-C015303D2BA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594A2018-B20C-477A-9079-588FCE9E145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E475103B-BFEC-4007-B12F-D0F20AC1F2A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FEF34A0D-7D5D-4CF3-8FB1-330DD4A701D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41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B638E20A-D50F-47CA-84FC-05E22106FFE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2DFFE3A6-6CC5-4BC7-9624-FC595704A6D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19856B5E-C51B-4E0B-8E6C-E24ABB6D2BA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17A4CAEF-0A8A-476C-954E-C6EB84598A7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B8E3ECF5-1067-4023-92F1-D376DB6D4E6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2D9DFCC0-27E4-4E42-85AF-72168B0C562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PlaceHolder 1"/>
          <p:cNvSpPr>
            <a:spLocks noGrp="1"/>
          </p:cNvSpPr>
          <p:nvPr>
            <p:ph type="sldImg"/>
          </p:nvPr>
        </p:nvSpPr>
        <p:spPr>
          <a:xfrm>
            <a:off x="217440" y="801720"/>
            <a:ext cx="7126200" cy="401004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1008000" y="5078520"/>
            <a:ext cx="5544000" cy="48114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2F9B2E67-9136-4108-A2B4-A506F217785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PlaceHolder 1"/>
          <p:cNvSpPr>
            <a:spLocks noGrp="1"/>
          </p:cNvSpPr>
          <p:nvPr>
            <p:ph type="sldImg"/>
          </p:nvPr>
        </p:nvSpPr>
        <p:spPr>
          <a:xfrm>
            <a:off x="217440" y="801720"/>
            <a:ext cx="7126200" cy="401004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1008000" y="5078520"/>
            <a:ext cx="5544000" cy="48114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250F4E7A-D878-4CEF-91A0-F0D7DE25977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PlaceHolder 1"/>
          <p:cNvSpPr>
            <a:spLocks noGrp="1"/>
          </p:cNvSpPr>
          <p:nvPr>
            <p:ph type="sldImg"/>
          </p:nvPr>
        </p:nvSpPr>
        <p:spPr>
          <a:xfrm>
            <a:off x="217440" y="801720"/>
            <a:ext cx="7126200" cy="401004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1008000" y="5078520"/>
            <a:ext cx="5544000" cy="48114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C117A182-9DB7-4184-A48E-1CFDC37B967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PlaceHolder 1"/>
          <p:cNvSpPr>
            <a:spLocks noGrp="1"/>
          </p:cNvSpPr>
          <p:nvPr>
            <p:ph type="sldImg"/>
          </p:nvPr>
        </p:nvSpPr>
        <p:spPr>
          <a:xfrm>
            <a:off x="217440" y="801720"/>
            <a:ext cx="7126200" cy="401004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1008000" y="5078520"/>
            <a:ext cx="5544000" cy="48114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6778ED8A-1AB2-4BCC-BBD4-6C7C8D12832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PlaceHolder 1"/>
          <p:cNvSpPr>
            <a:spLocks noGrp="1"/>
          </p:cNvSpPr>
          <p:nvPr>
            <p:ph type="sldImg"/>
          </p:nvPr>
        </p:nvSpPr>
        <p:spPr>
          <a:xfrm>
            <a:off x="217440" y="801720"/>
            <a:ext cx="7126200" cy="401004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1008000" y="5078520"/>
            <a:ext cx="5544000" cy="48114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48CCBF0E-F5C9-47FB-860D-AEA5346D25F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PlaceHolder 1"/>
          <p:cNvSpPr>
            <a:spLocks noGrp="1"/>
          </p:cNvSpPr>
          <p:nvPr>
            <p:ph type="sldImg"/>
          </p:nvPr>
        </p:nvSpPr>
        <p:spPr>
          <a:xfrm>
            <a:off x="217440" y="801720"/>
            <a:ext cx="7126200" cy="401004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1008000" y="5078520"/>
            <a:ext cx="5544000" cy="48114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AC8CCFA8-1FB1-485F-891C-9728E01DC41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EBB11779-7EF1-4F95-914C-57ED2688BAA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2960" cy="400860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D0B4ECC0-E272-47E4-AEED-9446D40009D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2960" cy="400860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40BF442E-BCF0-448D-8766-EBC53732856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2960" cy="400860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600B1311-D5B4-4673-831D-4CD933D2001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2960" cy="400860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548F9FC9-8773-4A50-BFF4-B6830919556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2960" cy="4008600"/>
          </a:xfrm>
          <a:prstGeom prst="rect">
            <a:avLst/>
          </a:prstGeom>
          <a:ln w="0">
            <a:noFill/>
          </a:ln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D74059D8-0379-43F6-B337-FC89F0C5968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2960" cy="4008600"/>
          </a:xfrm>
          <a:prstGeom prst="rect">
            <a:avLst/>
          </a:prstGeom>
          <a:ln w="0">
            <a:noFill/>
          </a:ln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82E9E806-260B-41FB-BBFD-E60BF362F86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2960" cy="4008600"/>
          </a:xfrm>
          <a:prstGeom prst="rect">
            <a:avLst/>
          </a:prstGeom>
          <a:ln w="0">
            <a:noFill/>
          </a:ln>
        </p:spPr>
      </p:sp>
      <p:sp>
        <p:nvSpPr>
          <p:cNvPr id="47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3B78F90A-6194-40B3-BCF1-FFB4F8D5050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2960" cy="4008600"/>
          </a:xfrm>
          <a:prstGeom prst="rect">
            <a:avLst/>
          </a:prstGeom>
          <a:ln w="0">
            <a:noFill/>
          </a:ln>
        </p:spPr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733B5695-14DD-4174-A4F0-273402301F6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2960" cy="40086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D4806E37-82BD-42C2-8D88-86951C26CDF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2960" cy="4008600"/>
          </a:xfrm>
          <a:prstGeom prst="rect">
            <a:avLst/>
          </a:prstGeom>
          <a:ln w="0">
            <a:noFill/>
          </a:ln>
        </p:spPr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1466CBFC-F007-4A23-A9FE-8805B41511C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2960" cy="4008600"/>
          </a:xfrm>
          <a:prstGeom prst="rect">
            <a:avLst/>
          </a:prstGeom>
          <a:ln w="0">
            <a:noFill/>
          </a:ln>
        </p:spPr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E2132AA5-5779-4EED-895E-ECA7600FDAB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2960" cy="4008600"/>
          </a:xfrm>
          <a:prstGeom prst="rect">
            <a:avLst/>
          </a:prstGeom>
          <a:ln w="0">
            <a:noFill/>
          </a:ln>
        </p:spPr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17578D41-098B-44E6-B251-9C549457388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2960" cy="4008600"/>
          </a:xfrm>
          <a:prstGeom prst="rect">
            <a:avLst/>
          </a:prstGeom>
          <a:ln w="0">
            <a:noFill/>
          </a:ln>
        </p:spPr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A248E6EA-BDE7-4246-B9F0-A39BBF066C9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2960" cy="4008600"/>
          </a:xfrm>
          <a:prstGeom prst="rect">
            <a:avLst/>
          </a:prstGeom>
          <a:ln w="0">
            <a:noFill/>
          </a:ln>
        </p:spPr>
      </p:sp>
      <p:sp>
        <p:nvSpPr>
          <p:cNvPr id="49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40698BB7-0017-4AF3-B42D-108BE64B380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2960" cy="4008600"/>
          </a:xfrm>
          <a:prstGeom prst="rect">
            <a:avLst/>
          </a:prstGeom>
          <a:ln w="0">
            <a:noFill/>
          </a:ln>
        </p:spPr>
      </p:sp>
      <p:sp>
        <p:nvSpPr>
          <p:cNvPr id="49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1DE5F83E-D312-4112-83B3-F8011C29D54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2960" cy="4008600"/>
          </a:xfrm>
          <a:prstGeom prst="rect">
            <a:avLst/>
          </a:prstGeom>
          <a:ln w="0">
            <a:noFill/>
          </a:ln>
        </p:spPr>
      </p:sp>
      <p:sp>
        <p:nvSpPr>
          <p:cNvPr id="49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F5A51E8C-A4C7-4DC6-A6AA-5031CC7BBDF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2960" cy="4008600"/>
          </a:xfrm>
          <a:prstGeom prst="rect">
            <a:avLst/>
          </a:prstGeom>
          <a:ln w="0">
            <a:noFill/>
          </a:ln>
        </p:spPr>
      </p:sp>
      <p:sp>
        <p:nvSpPr>
          <p:cNvPr id="50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lide Number 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0ADB504D-0B32-46B8-955F-81A97536A34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2960" cy="4008600"/>
          </a:xfrm>
          <a:prstGeom prst="rect">
            <a:avLst/>
          </a:prstGeom>
          <a:ln w="0">
            <a:noFill/>
          </a:ln>
        </p:spPr>
      </p:sp>
      <p:sp>
        <p:nvSpPr>
          <p:cNvPr id="50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1-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 anchorCtr="1">
            <a:noAutofit/>
          </a:bodyPr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8655C9F-74E2-4351-9425-F08D28A22BA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1-Layout1-title-Title-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260360" y="928800"/>
            <a:ext cx="7559640" cy="197316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b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dt" idx="4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5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 anchorCtr="1">
            <a:noAutofit/>
          </a:bodyPr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6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E953178-6B21-4ADD-9E9E-4FE284BF745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1-Layout2-obj-Title-and-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indent="0" algn="ctr">
              <a:lnSpc>
                <a:spcPct val="100000"/>
              </a:lnSpc>
              <a:spcBef>
                <a:spcPts val="1414"/>
              </a:spcBef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 anchorCtr="1">
            <a:noAutofit/>
          </a:bodyPr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09D33B4-B647-40E3-958F-3A58C3374B9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Master1-Layout2-obj-Title-and-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indent="0" algn="ctr">
              <a:lnSpc>
                <a:spcPct val="100000"/>
              </a:lnSpc>
              <a:spcBef>
                <a:spcPts val="1414"/>
              </a:spcBef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 anchorCtr="1">
            <a:noAutofit/>
          </a:bodyPr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3AA778F-768F-4D7B-802B-39995F9F62C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1-Layout3-secHead-Section-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87240" y="1414440"/>
            <a:ext cx="8694720" cy="23572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b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87240" y="3794040"/>
            <a:ext cx="8694720" cy="12412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898989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 anchorCtr="1">
            <a:noAutofit/>
          </a:bodyPr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61BB6D7-D89A-4378-B981-E74DB36897F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1-Layout4-twoObj-Two-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title"/>
          </p:nvPr>
        </p:nvSpPr>
        <p:spPr>
          <a:xfrm>
            <a:off x="503280" y="1327320"/>
            <a:ext cx="4459320" cy="32878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indent="0" algn="ctr">
              <a:lnSpc>
                <a:spcPct val="100000"/>
              </a:lnSpc>
              <a:spcBef>
                <a:spcPts val="1414"/>
              </a:spcBef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title"/>
          </p:nvPr>
        </p:nvSpPr>
        <p:spPr>
          <a:xfrm>
            <a:off x="5114880" y="1327320"/>
            <a:ext cx="4460760" cy="32878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indent="0" algn="ctr">
              <a:lnSpc>
                <a:spcPct val="100000"/>
              </a:lnSpc>
              <a:spcBef>
                <a:spcPts val="1414"/>
              </a:spcBef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 anchorCtr="1">
            <a:noAutofit/>
          </a:bodyPr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49BE082-B35F-47F0-BFBF-338843A36FB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1-Layout5-twoTxTwoObj-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93720" y="301680"/>
            <a:ext cx="8694720" cy="10969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93720" y="1390680"/>
            <a:ext cx="4265640" cy="6811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b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title"/>
          </p:nvPr>
        </p:nvSpPr>
        <p:spPr>
          <a:xfrm>
            <a:off x="693720" y="2071800"/>
            <a:ext cx="4265640" cy="30463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85000" lnSpcReduction="9999"/>
          </a:bodyPr>
          <a:p>
            <a:pPr indent="0" algn="ctr">
              <a:lnSpc>
                <a:spcPct val="100000"/>
              </a:lnSpc>
              <a:spcBef>
                <a:spcPts val="1414"/>
              </a:spcBef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5103720" y="1390680"/>
            <a:ext cx="4284720" cy="6811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b">
            <a:normAutofit lnSpcReduction="9999"/>
          </a:bodyPr>
          <a:p>
            <a:pPr indent="0">
              <a:lnSpc>
                <a:spcPct val="100000"/>
              </a:lnSpc>
              <a:spcBef>
                <a:spcPts val="1414"/>
              </a:spcBef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title"/>
          </p:nvPr>
        </p:nvSpPr>
        <p:spPr>
          <a:xfrm>
            <a:off x="5103720" y="2071800"/>
            <a:ext cx="4284720" cy="30463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85000" lnSpcReduction="9999"/>
          </a:bodyPr>
          <a:p>
            <a:pPr indent="0" algn="ctr">
              <a:lnSpc>
                <a:spcPct val="100000"/>
              </a:lnSpc>
              <a:spcBef>
                <a:spcPts val="1414"/>
              </a:spcBef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dt" idx="19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ftr" idx="20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 anchorCtr="1">
            <a:noAutofit/>
          </a:bodyPr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8"/>
          <p:cNvSpPr>
            <a:spLocks noGrp="1"/>
          </p:cNvSpPr>
          <p:nvPr>
            <p:ph type="sldNum" idx="21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942BD69-88A2-472A-BA0D-6459BB3E6D4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1-Layout6-titleOnly-Title-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dt" idx="22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ftr" idx="2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 anchorCtr="1">
            <a:noAutofit/>
          </a:bodyPr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sldNum" idx="2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6426DC5-9F24-45AE-8D95-E055A27B8EF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1-Layout7-blank-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dt" idx="25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6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 anchorCtr="1">
            <a:noAutofit/>
          </a:bodyPr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27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F62595C-3C75-4F15-A855-68872D82297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video" Target="file:///home/fxrdhan/Documents/kamsis/project_1/AES%20Rijndael%20Cipher%20-%20Visualization-mlzxpkdXP58.mp4" TargetMode="External"/><Relationship Id="rId2" Type="http://schemas.microsoft.com/office/2007/relationships/media" Target="file:///home/fxrdhan/Documents/kamsis/project_1/AES%20Rijndael%20Cipher%20-%20Visualization-mlzxpkdXP58.mp4" TargetMode="External"/><Relationship Id="rId3" Type="http://schemas.openxmlformats.org/officeDocument/2006/relationships/image" Target="../media/image32.png"/><Relationship Id="rId4" Type="http://schemas.openxmlformats.org/officeDocument/2006/relationships/hyperlink" Target="http://www.formaestudio.com/rijndaelinspector/archivos/rijndaelanimation.html" TargetMode="External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2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4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66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7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8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9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0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1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2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3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4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5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6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7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8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9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0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1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2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3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4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5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504000" y="225720"/>
            <a:ext cx="9071640" cy="438876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rmAutofit/>
          </a:bodyPr>
          <a:p>
            <a:pPr algn="ctr">
              <a:lnSpc>
                <a:spcPct val="150000"/>
              </a:lnSpc>
              <a:spcBef>
                <a:spcPts val="1414"/>
              </a:spcBef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Keamanan Sistem Komputer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50000"/>
              </a:lnSpc>
              <a:spcBef>
                <a:spcPts val="1414"/>
              </a:spcBef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CEH3D3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Box 2"/>
          <p:cNvSpPr txBox="1"/>
          <p:nvPr/>
        </p:nvSpPr>
        <p:spPr>
          <a:xfrm>
            <a:off x="2736720" y="3536640"/>
            <a:ext cx="4829040" cy="88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 Regular"/>
              </a:rPr>
              <a:t>Kriptografi Simetrik, Asimetrik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 Regular"/>
              </a:rPr>
              <a:t>DES, AES, RSA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Kunci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Kunci Simetrik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Kunci Asimetrik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Kunci Publik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Kunci Privat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Kanal Aman : Kunci Bersama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"/>
          <p:cNvPicPr/>
          <p:nvPr/>
        </p:nvPicPr>
        <p:blipFill>
          <a:blip r:embed="rId1"/>
          <a:stretch/>
        </p:blipFill>
        <p:spPr>
          <a:xfrm>
            <a:off x="2145960" y="1370880"/>
            <a:ext cx="5875560" cy="333288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Blok Cipher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"/>
          <p:cNvPicPr/>
          <p:nvPr/>
        </p:nvPicPr>
        <p:blipFill>
          <a:blip r:embed="rId1"/>
          <a:stretch/>
        </p:blipFill>
        <p:spPr>
          <a:xfrm>
            <a:off x="1422360" y="1119240"/>
            <a:ext cx="7323120" cy="347580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Kriptografi Kunci Simetrik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Pengirim dan penerima menggunakan kunci yang sama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Kunci harus sangat dirahasiakan (private)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Disebut juga sebagai kriptografi simetrik atau kriptografi kunci rahasia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4"/>
              </a:spcBef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Contoh : DES, Triple-DES, Blowfish, Twofish, AES, Rijndael dsb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Notasi Kunci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85000" lnSpcReduction="19999"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Algoritma enkripsi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: kunci x plain → cipher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Notasi : E = K(m)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Algoritma dekripsi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 : kunci x cipher → plain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 menginvers 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Notasi : D = K(K(m)) = 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Gunakan huruf besar K untuk kunci rahasia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Seringkali algoritma E sama dengan 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 Cipher Blok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85000" lnSpcReduction="19999"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ECB – Electronic Code Book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Membagi plaintext ke blok-blok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Enkrip setiap blok secara terpisah dengan kunci yang sama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CBC – Cipher Block Chaining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XOR setiap blok dengan ekripsi dari blok sebelumnya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Gunakan vektor inisialisasi IV untuk blok pertama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OFB – Output Feedback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Iterasi enkripsi dari IV untuk menghasilkan stream cipher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CFB – Cipher Feedback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Blok output y</a:t>
            </a:r>
            <a:r>
              <a:rPr lang="en-US" sz="2079" b="0" u="none" strike="noStrike" baseline="-33000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 input x</a:t>
            </a:r>
            <a:r>
              <a:rPr lang="en-US" sz="2079" b="0" u="none" strike="noStrike" baseline="-33000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xor enkripsi K(y</a:t>
            </a:r>
            <a:r>
              <a:rPr lang="en-US" sz="2079" b="0" u="none" strike="noStrike" baseline="-33000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-1)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 Electronic Code Book (ECB)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"/>
          <p:cNvPicPr/>
          <p:nvPr/>
        </p:nvPicPr>
        <p:blipFill>
          <a:blip r:embed="rId1"/>
          <a:stretch/>
        </p:blipFill>
        <p:spPr>
          <a:xfrm>
            <a:off x="279360" y="1352880"/>
            <a:ext cx="9609120" cy="300888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 Cipher Block Chaining (CBC)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"/>
          <p:cNvPicPr/>
          <p:nvPr/>
        </p:nvPicPr>
        <p:blipFill>
          <a:blip r:embed="rId1"/>
          <a:stretch/>
        </p:blipFill>
        <p:spPr>
          <a:xfrm>
            <a:off x="182880" y="946080"/>
            <a:ext cx="6656760" cy="245664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75" name=""/>
          <p:cNvPicPr/>
          <p:nvPr/>
        </p:nvPicPr>
        <p:blipFill>
          <a:blip r:embed="rId2"/>
          <a:stretch/>
        </p:blipFill>
        <p:spPr>
          <a:xfrm>
            <a:off x="2560320" y="3270600"/>
            <a:ext cx="7466040" cy="239940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Hasil ECB &amp; CBC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"/>
          <p:cNvPicPr/>
          <p:nvPr/>
        </p:nvPicPr>
        <p:blipFill>
          <a:blip r:embed="rId1"/>
          <a:srcRect l="-513" t="3872" r="0" b="0"/>
          <a:stretch/>
        </p:blipFill>
        <p:spPr>
          <a:xfrm>
            <a:off x="0" y="1139760"/>
            <a:ext cx="10080000" cy="453096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 Output Feedback (OFB)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"/>
          <p:cNvPicPr/>
          <p:nvPr/>
        </p:nvPicPr>
        <p:blipFill>
          <a:blip r:embed="rId1"/>
          <a:stretch/>
        </p:blipFill>
        <p:spPr>
          <a:xfrm>
            <a:off x="329760" y="1100160"/>
            <a:ext cx="5123160" cy="233280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81" name=""/>
          <p:cNvPicPr/>
          <p:nvPr/>
        </p:nvPicPr>
        <p:blipFill>
          <a:blip r:embed="rId2"/>
          <a:stretch/>
        </p:blipFill>
        <p:spPr>
          <a:xfrm>
            <a:off x="4663440" y="3077280"/>
            <a:ext cx="5171040" cy="240912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 Cipher Feedback (CFB)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"/>
          <p:cNvPicPr/>
          <p:nvPr/>
        </p:nvPicPr>
        <p:blipFill>
          <a:blip r:embed="rId1"/>
          <a:stretch/>
        </p:blipFill>
        <p:spPr>
          <a:xfrm>
            <a:off x="35640" y="1050480"/>
            <a:ext cx="5284440" cy="242424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84" name=""/>
          <p:cNvPicPr/>
          <p:nvPr/>
        </p:nvPicPr>
        <p:blipFill>
          <a:blip r:embed="rId2"/>
          <a:stretch/>
        </p:blipFill>
        <p:spPr>
          <a:xfrm>
            <a:off x="4072320" y="3200400"/>
            <a:ext cx="5929560" cy="240516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Ciphertext Function Module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Rotating keys, pada proses ini kunci mengalami perubahan untuk urutan proses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Komputasi lebih ringan karena yang diubah adalah kunci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"/>
          <p:cNvPicPr/>
          <p:nvPr/>
        </p:nvPicPr>
        <p:blipFill>
          <a:blip r:embed="rId1"/>
          <a:stretch/>
        </p:blipFill>
        <p:spPr>
          <a:xfrm>
            <a:off x="1587240" y="2780280"/>
            <a:ext cx="6859800" cy="243180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Ciphertext Stream Module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Seperti CFM, hanya digunakan untuk serial stream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"/>
          <p:cNvPicPr/>
          <p:nvPr/>
        </p:nvPicPr>
        <p:blipFill>
          <a:blip r:embed="rId1"/>
          <a:stretch/>
        </p:blipFill>
        <p:spPr>
          <a:xfrm>
            <a:off x="2208240" y="1920240"/>
            <a:ext cx="5465880" cy="320040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Jaringan Feistel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85000" lnSpcReduction="9999"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Banyak (kebanyakan?) cipher blok adalah jaringan Feistel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Contoh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DES, Lucifer, FREAL, khufu, Khafre, LOKI, GOST, CAST, Blowfish, Twofish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Jaringan feistel adalah bentuk standar untuk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Mengiterasi sebuah fungsi f pada bagian dari pesan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Menghasilkan transformasi yang bisa dibalik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AES (Rijndael) berhubungan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Juga merupakan cipher blok dengan pengulangan ronde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Tapi bukan jaringan Feistel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/>
          </p:nvPr>
        </p:nvSpPr>
        <p:spPr>
          <a:xfrm>
            <a:off x="5148720" y="1326600"/>
            <a:ext cx="442692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80000"/>
              </a:lnSpc>
              <a:spcBef>
                <a:spcPts val="1414"/>
              </a:spcBef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Skema memerlukan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Fungsi f(R</a:t>
            </a:r>
            <a:r>
              <a:rPr lang="en-US" sz="1501" b="0" u="none" strike="noStrike" baseline="-33000">
                <a:solidFill>
                  <a:srgbClr val="000000"/>
                </a:solidFill>
                <a:effectLst/>
                <a:uFillTx/>
                <a:latin typeface="Arial"/>
              </a:rPr>
              <a:t>i-1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,Ki)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Komputasi untuk Ki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Kelebihan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Kalkulasi sistematik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7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Mudah jika f sebuah tabel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Bisa dibalik jika K</a:t>
            </a:r>
            <a:r>
              <a:rPr lang="en-US" sz="1501" b="0" u="none" strike="noStrike" baseline="-33000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diketahui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7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Dapatkan R</a:t>
            </a:r>
            <a:r>
              <a:rPr lang="en-US" sz="1501" b="0" u="none" strike="noStrike" baseline="-33000">
                <a:solidFill>
                  <a:srgbClr val="000000"/>
                </a:solidFill>
                <a:effectLst/>
                <a:uFillTx/>
                <a:latin typeface="Arial"/>
              </a:rPr>
              <a:t>i-1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dari L</a:t>
            </a:r>
            <a:r>
              <a:rPr lang="en-US" sz="1501" b="0" u="none" strike="noStrike" baseline="-33000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7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Hitung f(R</a:t>
            </a:r>
            <a:r>
              <a:rPr lang="en-US" sz="1501" b="0" u="none" strike="noStrike" baseline="-33000">
                <a:solidFill>
                  <a:srgbClr val="000000"/>
                </a:solidFill>
                <a:effectLst/>
                <a:uFillTx/>
                <a:latin typeface="Arial"/>
              </a:rPr>
              <a:t>i-1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,Ki)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7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Hitung L</a:t>
            </a:r>
            <a:r>
              <a:rPr lang="en-US" sz="1501" b="0" u="none" strike="noStrike" baseline="-33000">
                <a:solidFill>
                  <a:srgbClr val="000000"/>
                </a:solidFill>
                <a:effectLst/>
                <a:uFillTx/>
                <a:latin typeface="Arial"/>
              </a:rPr>
              <a:t>i-1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dengan xor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Jaringan Feistel : Ronde Satu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"/>
          <p:cNvPicPr/>
          <p:nvPr/>
        </p:nvPicPr>
        <p:blipFill>
          <a:blip r:embed="rId1"/>
          <a:stretch/>
        </p:blipFill>
        <p:spPr>
          <a:xfrm>
            <a:off x="872640" y="1326600"/>
            <a:ext cx="3749040" cy="412524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Jaringan Feistel : n Ronde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"/>
          <p:cNvPicPr/>
          <p:nvPr/>
        </p:nvPicPr>
        <p:blipFill>
          <a:blip r:embed="rId1"/>
          <a:stretch/>
        </p:blipFill>
        <p:spPr>
          <a:xfrm>
            <a:off x="3599640" y="1305000"/>
            <a:ext cx="2826360" cy="416952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 Encryption Standard (DES)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85000" lnSpcReduction="19999"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Dirancang oleh IBM (turunan langsung dari Lucifer)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Diadopsi menjadi standar pada 1976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Keamanan dianalisa oleh NSA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Panjang kunci 56 bit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Dibulatkan ke 64 bit menggunakan 8 pariti bit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Struktur Feistel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Bekerja dalam blok berukuran 64 bit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Melakukan permutasi pada bit input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Melakukan fungsi subtitusi dengan S-box berkali kali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Setiap siklus menggunakan permutasi dan subtitusi untuk mengkombinasikan plaintext dengan kunci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Menggunakan permutasi balik untuk menghasilkan output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Arsitektur DES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"/>
          <p:cNvPicPr/>
          <p:nvPr/>
        </p:nvPicPr>
        <p:blipFill>
          <a:blip r:embed="rId1"/>
          <a:stretch/>
        </p:blipFill>
        <p:spPr>
          <a:xfrm>
            <a:off x="2813760" y="1544760"/>
            <a:ext cx="4615200" cy="284436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Arsitektur DES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"/>
          <p:cNvPicPr/>
          <p:nvPr/>
        </p:nvPicPr>
        <p:blipFill>
          <a:blip r:embed="rId1"/>
          <a:stretch/>
        </p:blipFill>
        <p:spPr>
          <a:xfrm>
            <a:off x="2722320" y="1116720"/>
            <a:ext cx="4501440" cy="448884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04000" y="211320"/>
            <a:ext cx="4525200" cy="97596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Pemrosesan Kunci (Key Processor)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Kunci 64 bit mengalami: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1x Permutasi dengan PC1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16x Permutasi dengan PC2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"/>
          <p:cNvPicPr/>
          <p:nvPr/>
        </p:nvPicPr>
        <p:blipFill>
          <a:blip r:embed="rId1"/>
          <a:stretch/>
        </p:blipFill>
        <p:spPr>
          <a:xfrm>
            <a:off x="457200" y="2824200"/>
            <a:ext cx="4561200" cy="257076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107" name=""/>
          <p:cNvPicPr/>
          <p:nvPr/>
        </p:nvPicPr>
        <p:blipFill>
          <a:blip r:embed="rId2"/>
          <a:stretch/>
        </p:blipFill>
        <p:spPr>
          <a:xfrm>
            <a:off x="4930920" y="83520"/>
            <a:ext cx="5072760" cy="561276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Pola Permutasi Awal (Initial Permutation - IP)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Plain teks dibagi menjadi blok-blok 64 bit dan setiap blok akan di lakukan permutasi awal sesuai matrik IP berikut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"/>
          <p:cNvPicPr/>
          <p:nvPr/>
        </p:nvPicPr>
        <p:blipFill>
          <a:blip r:embed="rId1"/>
          <a:stretch/>
        </p:blipFill>
        <p:spPr>
          <a:xfrm>
            <a:off x="2474280" y="1968840"/>
            <a:ext cx="5219280" cy="350496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452520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PC-1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52520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Kunci 64 bit diubah menjadi 56 bit dengan menggunakan permutasi PC-1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"/>
          <p:cNvPicPr/>
          <p:nvPr/>
        </p:nvPicPr>
        <p:blipFill>
          <a:blip r:embed="rId1"/>
          <a:stretch/>
        </p:blipFill>
        <p:spPr>
          <a:xfrm>
            <a:off x="2252880" y="3108960"/>
            <a:ext cx="5885280" cy="231372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114" name=""/>
          <p:cNvPicPr/>
          <p:nvPr/>
        </p:nvPicPr>
        <p:blipFill>
          <a:blip r:embed="rId2"/>
          <a:stretch/>
        </p:blipFill>
        <p:spPr>
          <a:xfrm>
            <a:off x="5588280" y="365760"/>
            <a:ext cx="4104360" cy="231372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452520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PC-2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52520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Kunci 56 bit diambil 48 bit dengan menggunakan permutasi PC-2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"/>
          <p:cNvPicPr/>
          <p:nvPr/>
        </p:nvPicPr>
        <p:blipFill>
          <a:blip r:embed="rId1"/>
          <a:stretch/>
        </p:blipFill>
        <p:spPr>
          <a:xfrm>
            <a:off x="5607360" y="365760"/>
            <a:ext cx="4085280" cy="224712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118" name=""/>
          <p:cNvPicPr/>
          <p:nvPr/>
        </p:nvPicPr>
        <p:blipFill>
          <a:blip r:embed="rId2"/>
          <a:stretch/>
        </p:blipFill>
        <p:spPr>
          <a:xfrm>
            <a:off x="1898280" y="3070440"/>
            <a:ext cx="6370920" cy="158976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Blok Iterasi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"/>
          <p:cNvPicPr/>
          <p:nvPr/>
        </p:nvPicPr>
        <p:blipFill>
          <a:blip r:embed="rId1"/>
          <a:stretch/>
        </p:blipFill>
        <p:spPr>
          <a:xfrm>
            <a:off x="2846160" y="1362600"/>
            <a:ext cx="4475520" cy="363744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Fungsi 32 bit kanan dan kunci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"/>
          <p:cNvPicPr/>
          <p:nvPr/>
        </p:nvPicPr>
        <p:blipFill>
          <a:blip r:embed="rId1"/>
          <a:stretch/>
        </p:blipFill>
        <p:spPr>
          <a:xfrm>
            <a:off x="2788920" y="1252440"/>
            <a:ext cx="4590000" cy="371376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452520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Fungsi 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52520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32 bit data kanan (R) di kembangkan menjadi 48 bit dengan fungsi 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"/>
          <p:cNvPicPr/>
          <p:nvPr/>
        </p:nvPicPr>
        <p:blipFill>
          <a:blip r:embed="rId1"/>
          <a:stretch/>
        </p:blipFill>
        <p:spPr>
          <a:xfrm>
            <a:off x="5943600" y="218520"/>
            <a:ext cx="2834640" cy="261612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126" name=""/>
          <p:cNvPicPr/>
          <p:nvPr/>
        </p:nvPicPr>
        <p:blipFill>
          <a:blip r:embed="rId2"/>
          <a:stretch/>
        </p:blipFill>
        <p:spPr>
          <a:xfrm>
            <a:off x="2474640" y="3034080"/>
            <a:ext cx="5218560" cy="238032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S-Box DES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85000" lnSpcReduction="9999"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Tabel subtitusi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Input 6 bit diganti dengan output 4 bit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Subtitusi yang dilakukan tergantung bit input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4"/>
              </a:spcBef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Diimplementasikan sebagai lookup table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 S-Box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Setiap S-Box mempunyai tabel 64 input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Setiap inputan menentukan output 4 bit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Fungsi 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"/>
          <p:cNvPicPr/>
          <p:nvPr/>
        </p:nvPicPr>
        <p:blipFill>
          <a:blip r:embed="rId1"/>
          <a:stretch/>
        </p:blipFill>
        <p:spPr>
          <a:xfrm>
            <a:off x="1247400" y="1724040"/>
            <a:ext cx="7471080" cy="275652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Fungsi 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lnSpcReduction="9999"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Hasil operasi data 48 bit dari fungsi E dan kunci K akan dibagi menjadi potongan 6 bit dan direduksi menjadi 4 bit dengan fungsi Sn sehingga akan didapatkan reduksi 48 bit ke 32 bit,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contoh 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potongan pertama 6 bit 011011 akan direduksi dengan fungsi S1 dengan cara diambil MSB 0 dan LSB 1 menjadi 01 menyatakan nomor baris, sisa 1101 dibaca sebagai desimal 13 menjadi nomor kolom, isi baris 1 dan kolom 13 adalah 5 yang dalam biner adalah 0101, sehingga S1(011011) = 0101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Fungsi S (S1 – S8)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" name=""/>
          <p:cNvPicPr/>
          <p:nvPr/>
        </p:nvPicPr>
        <p:blipFill>
          <a:blip r:embed="rId1"/>
          <a:stretch/>
        </p:blipFill>
        <p:spPr>
          <a:xfrm>
            <a:off x="793800" y="1141200"/>
            <a:ext cx="8580240" cy="415188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Dekripsi DES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lnSpcReduction="9999"/>
          </a:bodyPr>
          <a:p>
            <a:pPr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Menggunakan algoritma yang sama dengan enkripsi hanya saja menggunakan kunci yang dibalik urutan bitnya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4"/>
              </a:spcBef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Kunci enkripsi k</a:t>
            </a:r>
            <a:r>
              <a:rPr lang="en-US" sz="3696" b="0" u="none" strike="noStrike" baseline="-3300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k</a:t>
            </a:r>
            <a:r>
              <a:rPr lang="en-US" sz="3696" b="0" u="none" strike="noStrike" baseline="-33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… k</a:t>
            </a:r>
            <a:r>
              <a:rPr lang="en-US" sz="3696" b="0" u="none" strike="noStrike" baseline="-33000">
                <a:solidFill>
                  <a:srgbClr val="000000"/>
                </a:solidFill>
                <a:effectLst/>
                <a:uFillTx/>
                <a:latin typeface="Arial"/>
              </a:rPr>
              <a:t>16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Kunci dekripsi k</a:t>
            </a:r>
            <a:r>
              <a:rPr lang="en-US" sz="3696" b="0" u="none" strike="noStrike" baseline="-33000">
                <a:solidFill>
                  <a:srgbClr val="000000"/>
                </a:solidFill>
                <a:effectLst/>
                <a:uFillTx/>
                <a:latin typeface="Arial"/>
              </a:rPr>
              <a:t>16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k</a:t>
            </a:r>
            <a:r>
              <a:rPr lang="en-US" sz="3696" b="0" u="none" strike="noStrike" baseline="-33000">
                <a:solidFill>
                  <a:srgbClr val="000000"/>
                </a:solidFill>
                <a:effectLst/>
                <a:uFillTx/>
                <a:latin typeface="Arial"/>
              </a:rPr>
              <a:t>15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… k</a:t>
            </a:r>
            <a:r>
              <a:rPr lang="en-US" sz="3696" b="0" u="none" strike="noStrike" baseline="-3300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Kekurangan DES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lnSpcReduction="9999"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Kunci 56 bit terlampau pendek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www.distributed.net memecahkan tantangan DES tahun 1999 dibawah 24 jam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EFF merancang chip pemecah DES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Masalah lain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Tidak semua kunci aman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Umum digunakan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Triple-DES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untuk mengatasi masalah ini (Triple disini berarti sangat literal :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diulangi 3 kali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Contoh penggunaan Triple-DES : Token listrik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Triple-DES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" name=""/>
          <p:cNvPicPr/>
          <p:nvPr/>
        </p:nvPicPr>
        <p:blipFill>
          <a:blip r:embed="rId1"/>
          <a:stretch/>
        </p:blipFill>
        <p:spPr>
          <a:xfrm>
            <a:off x="1831680" y="1312200"/>
            <a:ext cx="6504120" cy="366624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Pemilihan Kunci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92500" lnSpcReduction="9999"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Opsi Kunci: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Ketiga kunci berbeda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K1 dan K2 berbeda dan K3 = K1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Semua kunci sama, K1 = K2 = K3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4"/>
              </a:spcBef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Opsi [1] : Paling Kuat, memiliki 3 kunci, masing -masing memiliki panjang 56 bits = 168 bits kunci yang independent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Opsi [2] : Cukup Kuat, memiliki 2 kunci, masing – masing memiliki panjang 56 bits = 112 bits kunci. Lebih kuat 2x dari DES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Opsi [3] : Sama seperti DES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AES-Rijndael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92500" lnSpcReduction="9999"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Advanced Encryption Standard a.k.a Rijndael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Established by U.S National Institute of Standard and Technology (NIST) in 2001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AES dasar merupakan subset dari Rijndael cipher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AES menjadi standard untuk federal government dan disetujui oleh NSA.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Penemu Rijndael : Joan Daemen &amp; Vincent Rijmen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AES-Rijndael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AES beroperasi menggunakan block berukuran 128 bit, dan menggunakan kunci 128, 192, atau 256 bit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Perbedaan mencolok antara DES dan AES adalah pada AES tidak menggunakan jaringan feistel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Sebagai contoh jika terdapat 16 bytes, b</a:t>
            </a:r>
            <a:r>
              <a:rPr lang="en-US" sz="2079" b="0" u="none" strike="noStrike" baseline="-33000">
                <a:solidFill>
                  <a:srgbClr val="000000"/>
                </a:solidFill>
                <a:effectLst/>
                <a:uFillTx/>
                <a:latin typeface="Arial"/>
              </a:rPr>
              <a:t>0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-b</a:t>
            </a:r>
            <a:r>
              <a:rPr lang="en-US" sz="2079" b="0" u="none" strike="noStrike" baseline="-33000">
                <a:solidFill>
                  <a:srgbClr val="000000"/>
                </a:solidFill>
                <a:effectLst/>
                <a:uFillTx/>
                <a:latin typeface="Arial"/>
              </a:rPr>
              <a:t>15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byte-byte ini direpresentasikan sebagai matriks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" name=""/>
          <p:cNvPicPr/>
          <p:nvPr/>
        </p:nvPicPr>
        <p:blipFill>
          <a:blip r:embed="rId1"/>
          <a:stretch/>
        </p:blipFill>
        <p:spPr>
          <a:xfrm>
            <a:off x="914400" y="3383280"/>
            <a:ext cx="3181680" cy="1828800"/>
          </a:xfrm>
          <a:prstGeom prst="rect">
            <a:avLst/>
          </a:prstGeom>
          <a:noFill/>
          <a:ln w="12600">
            <a:noFill/>
          </a:ln>
        </p:spPr>
      </p:pic>
      <p:sp>
        <p:nvSpPr>
          <p:cNvPr id="148" name="TextBox 4"/>
          <p:cNvSpPr txBox="1"/>
          <p:nvPr/>
        </p:nvSpPr>
        <p:spPr>
          <a:xfrm>
            <a:off x="4663440" y="3474720"/>
            <a:ext cx="5212800" cy="16261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 Regular"/>
              </a:rPr>
              <a:t>Nantinya proses enkripsi akan diulang sebanyak 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 Regular"/>
              </a:rPr>
              <a:t>10 cycles of repetition for 128-bit keys.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 Regular"/>
              </a:rPr>
              <a:t>12 cycles of repetition for 192-bit keys.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 Regular"/>
              </a:rPr>
              <a:t>14 cycles of repetition for 256-bit keys.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AES-Rijndael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0" name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542240" y="1326600"/>
            <a:ext cx="6908040" cy="3885480"/>
          </a:xfrm>
          <a:prstGeom prst="rect">
            <a:avLst/>
          </a:prstGeom>
          <a:ln w="0">
            <a:noFill/>
          </a:ln>
        </p:spPr>
      </p:pic>
      <p:sp>
        <p:nvSpPr>
          <p:cNvPr id="151" name="TextBox 3"/>
          <p:cNvSpPr txBox="1"/>
          <p:nvPr/>
        </p:nvSpPr>
        <p:spPr>
          <a:xfrm>
            <a:off x="928080" y="5231520"/>
            <a:ext cx="859536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 Regular"/>
                <a:hlinkClick r:id="rId4"/>
              </a:rPr>
              <a:t>http://www.formaestudio.com/rijndaelinspector/archivos/rijndaelanimation.html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AES-Rijndael (Sub-bytes)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5577840" y="1326600"/>
            <a:ext cx="400176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Setiap A</a:t>
            </a:r>
            <a:r>
              <a:rPr lang="en-US" sz="2772" b="0" u="none" strike="noStrike" baseline="-33000">
                <a:solidFill>
                  <a:srgbClr val="000000"/>
                </a:solidFill>
                <a:effectLst/>
                <a:uFillTx/>
                <a:latin typeface="Arial"/>
              </a:rPr>
              <a:t>i,j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disubtitusikan dengan SubByte S(A</a:t>
            </a:r>
            <a:r>
              <a:rPr lang="en-US" sz="2772" b="0" u="none" strike="noStrike" baseline="-33000">
                <a:solidFill>
                  <a:srgbClr val="000000"/>
                </a:solidFill>
                <a:effectLst/>
                <a:uFillTx/>
                <a:latin typeface="Arial"/>
              </a:rPr>
              <a:t>i,j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 dengan menggunakan 8-bit Rijndael S-Box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S(A</a:t>
            </a:r>
            <a:r>
              <a:rPr lang="en-US" sz="2772" b="0" u="none" strike="noStrike" baseline="-33000">
                <a:solidFill>
                  <a:srgbClr val="000000"/>
                </a:solidFill>
                <a:effectLst/>
                <a:uFillTx/>
                <a:latin typeface="Arial"/>
              </a:rPr>
              <a:t>i,j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 tidak sama dengan A</a:t>
            </a:r>
            <a:r>
              <a:rPr lang="en-US" sz="2772" b="0" u="none" strike="noStrike" baseline="-33000">
                <a:solidFill>
                  <a:srgbClr val="000000"/>
                </a:solidFill>
                <a:effectLst/>
                <a:uFillTx/>
                <a:latin typeface="Arial"/>
              </a:rPr>
              <a:t>i,j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" name=""/>
          <p:cNvPicPr/>
          <p:nvPr/>
        </p:nvPicPr>
        <p:blipFill>
          <a:blip r:embed="rId1"/>
          <a:stretch/>
        </p:blipFill>
        <p:spPr>
          <a:xfrm>
            <a:off x="502920" y="1463040"/>
            <a:ext cx="4919760" cy="256032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AES-Rijndael (Shift Rows)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5577840" y="1326600"/>
            <a:ext cx="400176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Baris pertama tidak dirubah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Baris kedua digeser kekiri sebanyak 1 kali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Baris ketiga dan keempat digeser sebanyak 2 dan 3 kali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Berbeda ketika menggunakan 256 bit blocks, baris kedua, ketiga dan keempat digeser sebanyak 1,3, dan 4 kali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7" name=""/>
          <p:cNvPicPr/>
          <p:nvPr/>
        </p:nvPicPr>
        <p:blipFill>
          <a:blip r:embed="rId1"/>
          <a:stretch/>
        </p:blipFill>
        <p:spPr>
          <a:xfrm>
            <a:off x="457200" y="1371600"/>
            <a:ext cx="5180760" cy="228600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AES-Rijndael (Mix Columns)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5577840" y="1326600"/>
            <a:ext cx="400176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Setiap kolom akan dikombinasikan dengan menggunakan transformasi linear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Menggunakan 4 byte sebagai input dan menghasilkan 4 byte sebagai output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Menggunakan Fixed Matrix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" name=""/>
          <p:cNvPicPr/>
          <p:nvPr/>
        </p:nvPicPr>
        <p:blipFill>
          <a:blip r:embed="rId1"/>
          <a:stretch/>
        </p:blipFill>
        <p:spPr>
          <a:xfrm>
            <a:off x="460080" y="1334520"/>
            <a:ext cx="4843440" cy="416664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AES-Rijndael (Add Round Keys)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5577840" y="1326600"/>
            <a:ext cx="400176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lnSpcReduction="9999"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Subkey dikombinasikan dengan state yang ada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Dalam setiap round, subkey didapat dari kunci utama dari penjadwalan kunci Rijndael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Subkey ditambahkan dengan melakukan kombinasi setiap byte pada saat state saat ini dengan byte subkey dengan menggunakan bitwise XOR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3" name=""/>
          <p:cNvPicPr/>
          <p:nvPr/>
        </p:nvPicPr>
        <p:blipFill>
          <a:blip r:embed="rId1"/>
          <a:stretch/>
        </p:blipFill>
        <p:spPr>
          <a:xfrm>
            <a:off x="612000" y="1208520"/>
            <a:ext cx="4708080" cy="397548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Kesimpulan Kunci Simetrik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lnSpcReduction="9999"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Basis komputasi sederhana → S-BOX dan operasi XOR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Kunci umumnya dilakukan rotasi yang menyebabkan kunci ‘berubah’ untuk setiap iterasi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Iterasi dilakukan ‘cukup’ banyak → semakin banyak iterasi semakin ‘aman’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 ada yang di ‘rotasi’ dan ada yang tidak di ‘rotasi’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Enkripsi dan dekripsi dilakukan dengan kunci yang sama, yang berbeda umumnya adalah pola rotasi saat enkripsi dan dekripsi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Kriptografi Kunci Asimetrik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Pengirim mengenkripsi menggunakan kunci publik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Penerima mendekripsi menggunakan kunci pribadi (private)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Hanya kunci pribadi yang harus dirahasiakan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Kunci publik bisa didistribusi secara bebas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Contoh terkenal RSA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Kriptografi Kunci Asimetrik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92500" lnSpcReduction="9999"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Permasalahan yang ada pada kunci simetrik: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Penerima dan Pengirim harus berbagi kunci (yang rentan sekali dicuri oleh orang lain)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Dengan adanya kriptografi kunci asimetrik, permasalahan ini tidak ada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Satu sisi, dapat melakukan proses enkripsi dengan menggunakan kunci publik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 sisi lain, dapat diterima dan dilakukan proses dekripsi dengan menggunakan kunci pribadi ( private 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Notasi Kunci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85000" lnSpcReduction="19999"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Algotitma Enkripsi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: keyPub x plain → cipher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Notasi : K(msg) = E(K, msg)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Algoritma dekripsi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 : keyPriv x cipher → plain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Notasi : k(msg) = D(k,msg)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 menginversi 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D(k, E(K,msg)) = msg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Digunakan notasi K untuk kunci publik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Digunakan notasi k untuk kunci pribadi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bisa menggunakan aolgoritma yang sama dengan 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 &amp; Kontra untuk Kriptografi Kunci Asimetrik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92500" lnSpcReduction="9999"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Memerlukan komputasi yang lebih intensif dari kriptografi kunci simetrik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Algoritma lebih sulit untuk diimplementasikan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Memerlukan mesin yang lebih kuat (min. processor yg digunakan utk berhitung)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Kesulitan ditentukan oleh kompleksitas komputasi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Memerlukan pasangan satu kunci pribadi dan satu kunci publik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Jumlah total pasangan kunci yang aman di komunikasi adalah (n)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Algoritma RSA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Ron Rivest, Adi Shamir, Leonard Adleman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Diusulkan 1979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Memenangkan award Turing 2002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Implementasi hardware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1000 x lebih pelan dari DES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RSA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92500" lnSpcReduction="9999"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Pasangan kunci diturunkan dari bilangan prima rahasia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Kunci umumnya ≥ 256 bit (512, 1024, 2048)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Pesan plaintext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Diperlakukan sebagai sebuah bilangan biner yang sangat besar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Untuk memecahkan enkripsi, harus dicari kunci yang merupakan pasangan dari bilangan yang sangat besar tadi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Dianggap sangat sulit untuk melakukan itu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Kunci RSA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9" name=""/>
          <p:cNvPicPr/>
          <p:nvPr/>
        </p:nvPicPr>
        <p:blipFill>
          <a:blip r:embed="rId1"/>
          <a:stretch/>
        </p:blipFill>
        <p:spPr>
          <a:xfrm>
            <a:off x="1793520" y="1159200"/>
            <a:ext cx="6580440" cy="382788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Kriptografi Kunci Asimetrik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1" name=""/>
          <p:cNvPicPr/>
          <p:nvPr/>
        </p:nvPicPr>
        <p:blipFill>
          <a:blip r:embed="rId1"/>
          <a:stretch/>
        </p:blipFill>
        <p:spPr>
          <a:xfrm>
            <a:off x="1185480" y="1376640"/>
            <a:ext cx="7684200" cy="337968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RSA : Pemilihan Kunci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85000" lnSpcReduction="19999"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Font typeface="OpenSymbol"/>
              <a:buAutoNum type="arabicPlain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Pilih dua bilangan prima yang sangat besar p, q.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(misal, masing-masing 1024 bit)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Font typeface="OpenSymbol"/>
              <a:buAutoNum type="arabicPlain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Hitung n = pq, z = (p-1)(q-1)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Font typeface="OpenSymbol"/>
              <a:buAutoNum type="arabicPlain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Pilih e (e&lt;n) yang tidak punya faktor yang sama dengan z.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(e, z “prima relatif”).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adalah bilangan prima relatif terhadap 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Font typeface="OpenSymbol"/>
              <a:buAutoNum type="arabicPlain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Pilih d sehingga ed-1 bisa dibagi z.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Font typeface="OpenSymbol"/>
              <a:buAutoNum type="arabicPlain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(ed mod z = 1 ).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Font typeface="OpenSymbol"/>
              <a:buAutoNum type="arabicPlain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Kunci Publik (n,e). Kunci pribadi (n,d).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4" name=""/>
          <p:cNvPicPr/>
          <p:nvPr/>
        </p:nvPicPr>
        <p:blipFill>
          <a:blip r:embed="rId1"/>
          <a:stretch/>
        </p:blipFill>
        <p:spPr>
          <a:xfrm>
            <a:off x="2235240" y="4570920"/>
            <a:ext cx="599400" cy="51372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185" name=""/>
          <p:cNvPicPr/>
          <p:nvPr/>
        </p:nvPicPr>
        <p:blipFill>
          <a:blip r:embed="rId2"/>
          <a:stretch/>
        </p:blipFill>
        <p:spPr>
          <a:xfrm>
            <a:off x="4480560" y="4570920"/>
            <a:ext cx="523440" cy="51372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Generate Kunci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marL="514440" indent="-514440">
              <a:lnSpc>
                <a:spcPct val="80000"/>
              </a:lnSpc>
              <a:spcBef>
                <a:spcPts val="1414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Pilih 2 bilangan prima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Wingdings"/>
              </a:rPr>
              <a:t>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p, q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Wingdings"/>
              </a:rPr>
              <a:t>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tidak dipublikasikan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indent="-514440">
              <a:lnSpc>
                <a:spcPct val="80000"/>
              </a:lnSpc>
              <a:spcBef>
                <a:spcPts val="1414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ID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Kalikan </a:t>
            </a:r>
            <a:r>
              <a:rPr lang="en-ID" sz="2000" b="0" u="none" strike="noStrike">
                <a:solidFill>
                  <a:srgbClr val="000000"/>
                </a:solidFill>
                <a:effectLst/>
                <a:uFillTx/>
                <a:latin typeface="Wingdings"/>
              </a:rPr>
              <a:t></a:t>
            </a:r>
            <a:r>
              <a:rPr lang="en-ID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N=p*q </a:t>
            </a:r>
            <a:r>
              <a:rPr lang="en-ID" sz="2000" b="0" u="none" strike="noStrike">
                <a:solidFill>
                  <a:srgbClr val="000000"/>
                </a:solidFill>
                <a:effectLst/>
                <a:uFillTx/>
                <a:latin typeface="Wingdings"/>
              </a:rPr>
              <a:t></a:t>
            </a:r>
            <a:r>
              <a:rPr lang="en-ID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menjadi modulus pada enkripsi dan dekripsi </a:t>
            </a:r>
            <a:r>
              <a:rPr lang="en-ID" sz="2000" b="0" u="none" strike="noStrike">
                <a:solidFill>
                  <a:srgbClr val="000000"/>
                </a:solidFill>
                <a:effectLst/>
                <a:uFillTx/>
                <a:latin typeface="Wingdings"/>
              </a:rPr>
              <a:t></a:t>
            </a:r>
            <a:r>
              <a:rPr lang="en-ID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dipublikasikan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indent="-514440">
              <a:lnSpc>
                <a:spcPct val="80000"/>
              </a:lnSpc>
              <a:spcBef>
                <a:spcPts val="1414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ID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Cari jumlah bilangan yang sefaktor prima dari N </a:t>
            </a:r>
            <a:r>
              <a:rPr lang="en-ID" sz="2000" b="0" u="none" strike="noStrike">
                <a:solidFill>
                  <a:srgbClr val="000000"/>
                </a:solidFill>
                <a:effectLst/>
                <a:uFillTx/>
                <a:latin typeface="Wingdings"/>
              </a:rPr>
              <a:t></a:t>
            </a:r>
            <a:r>
              <a:rPr lang="en-ID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phi(N) = (p-1)(q-1)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indent="-514440">
              <a:lnSpc>
                <a:spcPct val="80000"/>
              </a:lnSpc>
              <a:spcBef>
                <a:spcPts val="1414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ID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Pilih bilangan e, dimana 1&lt;e&lt;phi(N) dan e adalah bilangan tidak sefaktor prima antara N, phi(N)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indent="-514440">
              <a:lnSpc>
                <a:spcPct val="80000"/>
              </a:lnSpc>
              <a:spcBef>
                <a:spcPts val="1414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ID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Diperoleh </a:t>
            </a:r>
            <a:r>
              <a:rPr lang="en-ID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gembok (e,N)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indent="-514440">
              <a:lnSpc>
                <a:spcPct val="80000"/>
              </a:lnSpc>
              <a:spcBef>
                <a:spcPts val="1414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ID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Cari bilangan d, dimana d*e (mod phi(N))=1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indent="-514440">
              <a:lnSpc>
                <a:spcPct val="80000"/>
              </a:lnSpc>
              <a:spcBef>
                <a:spcPts val="1414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ID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Diperoleh </a:t>
            </a:r>
            <a:r>
              <a:rPr lang="en-ID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kunci (d,N)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marL="514440" indent="-51444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 pengirim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1" indent="-5144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Kunci pesan M dengan gembok (e,N)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Wingdings"/>
              </a:rPr>
              <a:t>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M^e=C (mod N)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Wingdings"/>
              </a:rPr>
              <a:t>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diperoleh 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1" indent="-5144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Pesan C dikirim ke penerima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indent="-51444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 penerima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1" indent="-5144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Dekripsi dengan menggunakan kunci (d,N)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Wingdings"/>
              </a:rPr>
              <a:t>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C^d = M(mod N)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Wingdings"/>
              </a:rPr>
              <a:t>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diperoleh M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Contoh RSA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Bob memilih p=5, q=7. Maka N=35, phi(N)=24.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e=5 (sehingga e, z prima relatif).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d=29 (sehingga ed-1 habis dibagi z).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Encrypt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4"/>
              </a:spcBef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Decrypt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2" name=""/>
          <p:cNvPicPr/>
          <p:nvPr/>
        </p:nvPicPr>
        <p:blipFill>
          <a:blip r:embed="rId1"/>
          <a:stretch/>
        </p:blipFill>
        <p:spPr>
          <a:xfrm>
            <a:off x="1899720" y="2970720"/>
            <a:ext cx="4647240" cy="83772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193" name=""/>
          <p:cNvPicPr/>
          <p:nvPr/>
        </p:nvPicPr>
        <p:blipFill>
          <a:blip r:embed="rId2"/>
          <a:stretch/>
        </p:blipFill>
        <p:spPr>
          <a:xfrm>
            <a:off x="1407600" y="4273920"/>
            <a:ext cx="5294520" cy="82800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RSA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5" name=""/>
          <p:cNvPicPr/>
          <p:nvPr/>
        </p:nvPicPr>
        <p:blipFill>
          <a:blip r:embed="rId1"/>
          <a:stretch/>
        </p:blipFill>
        <p:spPr>
          <a:xfrm>
            <a:off x="745920" y="1595520"/>
            <a:ext cx="8675640" cy="252324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Cara Menghasilkan Bilangan Prima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92500" lnSpcReduction="9999"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Banyak cara, umum digunakan Rabin-Miller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Test yang efisien dengan kemungkinan memeriksa sebuah bilangan prima adalah ¾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Iterasi test Rabin-Miller t kali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Kemungkinan bilangan tersebut bukan prima adalah (1/4)</a:t>
            </a:r>
            <a:r>
              <a:rPr lang="en-US" sz="2079" b="0" u="none" strike="noStrike" baseline="33000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Dalam praktisnya (hanya memerlukan beberapa detik untuk mendapatkan prima 512bit)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Hasilkan bilangan random n bit : 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Ubah LSB dan MSB ke 1 (untuk memastikan menjadi bilangan ganjil)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Periksa apakah prima dengan dibagi 3,5,7 sd &lt;2000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Lakukan test Rabin Miller paling tidak 5 kali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Penggunaan Lain Kripto Kunci Asimetrik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8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Pengirim (A) mengirim kA(m)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Penerima (B) membuka KA(kA(m))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80000"/>
              </a:lnSpc>
              <a:spcBef>
                <a:spcPts val="1414"/>
              </a:spcBef>
              <a:buNone/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Apa tujuan dari komunikasi ini?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Untuk melakukan proses </a:t>
            </a:r>
            <a:r>
              <a:rPr lang="en-US" sz="3000" b="1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autentikasi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yaitu meyakinkan penerima bahwa yang mengirim benar-benar / hanya A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Kriptografi Kunci Hybrid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85000" lnSpcReduction="9999"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Gabungan kunci simetrik dan asimetrik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Tujuan mengambil kelebihan dari kedua sistem : kemudahan komputasi simetrik dan keamanan asimetrik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Kunci simetrik sebagai kunci komunikasi / kunci sesi dikirim sebagai pesan komunikasi asimetrik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4"/>
              </a:spcBef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Pengirim : K</a:t>
            </a:r>
            <a:r>
              <a:rPr lang="en-US" sz="2079" b="0" u="none" strike="noStrike" baseline="33000">
                <a:solidFill>
                  <a:srgbClr val="000000"/>
                </a:solidFill>
                <a:effectLst/>
                <a:uFillTx/>
                <a:latin typeface="Arial"/>
              </a:rPr>
              <a:t>+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(K</a:t>
            </a:r>
            <a:r>
              <a:rPr lang="en-US" sz="2079" b="0" u="none" strike="noStrike" baseline="-33000">
                <a:solidFill>
                  <a:srgbClr val="000000"/>
                </a:solidFill>
                <a:effectLst/>
                <a:uFillTx/>
                <a:latin typeface="Arial"/>
              </a:rPr>
              <a:t>AB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Penerima : K</a:t>
            </a:r>
            <a:r>
              <a:rPr lang="en-US" sz="2079" b="0" u="none" strike="noStrike" baseline="33000">
                <a:solidFill>
                  <a:srgbClr val="000000"/>
                </a:solidFill>
                <a:effectLst/>
                <a:uFillTx/>
                <a:latin typeface="Arial"/>
              </a:rPr>
              <a:t>-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(K</a:t>
            </a:r>
            <a:r>
              <a:rPr lang="en-US" sz="2079" b="0" u="none" strike="noStrike" baseline="33000">
                <a:solidFill>
                  <a:srgbClr val="000000"/>
                </a:solidFill>
                <a:effectLst/>
                <a:uFillTx/>
                <a:latin typeface="Arial"/>
              </a:rPr>
              <a:t>+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(K</a:t>
            </a:r>
            <a:r>
              <a:rPr lang="en-US" sz="2079" b="0" u="none" strike="noStrike" baseline="-33000">
                <a:solidFill>
                  <a:srgbClr val="000000"/>
                </a:solidFill>
                <a:effectLst/>
                <a:uFillTx/>
                <a:latin typeface="Arial"/>
              </a:rPr>
              <a:t>AB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4"/>
              </a:spcBef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Untuk menambah keamanan komunikasi bisa dibagi menjadi banyak sesi yang masing2 menggunakan kunci simetrik yang berbeda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Homomorphic Encryption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85000" lnSpcReduction="9999"/>
          </a:bodyPr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E=K(m)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4"/>
              </a:spcBef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M1 → K(M1)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M2 → K(M2)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4"/>
              </a:spcBef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K(M1) + K(M2)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→ E1 + E2 = E3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4"/>
              </a:spcBef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M3 = K(E3)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Pertukaran kunci Delfie-Helmann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marL="514440" indent="-514440">
              <a:lnSpc>
                <a:spcPct val="80000"/>
              </a:lnSpc>
              <a:spcBef>
                <a:spcPts val="1414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Pilih consensus bilangan prima publik (p, q) </a:t>
            </a: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Wingdings"/>
              </a:rPr>
              <a:t></a:t>
            </a: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p mod q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indent="-514440">
              <a:lnSpc>
                <a:spcPct val="80000"/>
              </a:lnSpc>
              <a:spcBef>
                <a:spcPts val="1414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Pengirim memilih bilangan prima privat A  </a:t>
            </a: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Wingdings"/>
              </a:rPr>
              <a:t></a:t>
            </a: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p^A mod q </a:t>
            </a: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Wingdings"/>
              </a:rPr>
              <a:t></a:t>
            </a: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hasil k1 dikirim ke penerima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indent="-514440">
              <a:lnSpc>
                <a:spcPct val="80000"/>
              </a:lnSpc>
              <a:spcBef>
                <a:spcPts val="1414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Penerima memilih bilangan prima privat B </a:t>
            </a: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Wingdings"/>
              </a:rPr>
              <a:t></a:t>
            </a: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p^B mod q </a:t>
            </a: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Wingdings"/>
              </a:rPr>
              <a:t></a:t>
            </a: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hasil k2 dikirim ke pengirim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indent="-514440">
              <a:lnSpc>
                <a:spcPct val="80000"/>
              </a:lnSpc>
              <a:spcBef>
                <a:spcPts val="1414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Pengirim mendapatkan k2 </a:t>
            </a: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Wingdings"/>
              </a:rPr>
              <a:t></a:t>
            </a: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k2^A mod q </a:t>
            </a: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Wingdings"/>
              </a:rPr>
              <a:t></a:t>
            </a: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indent="-514440">
              <a:lnSpc>
                <a:spcPct val="80000"/>
              </a:lnSpc>
              <a:spcBef>
                <a:spcPts val="1414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Penerima mendapatkan k1 </a:t>
            </a: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Wingdings"/>
              </a:rPr>
              <a:t></a:t>
            </a: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k1^B mod q </a:t>
            </a: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Wingdings"/>
              </a:rPr>
              <a:t></a:t>
            </a: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indent="-514440">
              <a:lnSpc>
                <a:spcPct val="80000"/>
              </a:lnSpc>
              <a:spcBef>
                <a:spcPts val="1414"/>
              </a:spcBef>
              <a:buNone/>
            </a:pPr>
            <a:r>
              <a:rPr lang="en-ID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5"/>
          <p:cNvSpPr/>
          <p:nvPr/>
        </p:nvSpPr>
        <p:spPr>
          <a:xfrm>
            <a:off x="7223760" y="5166000"/>
            <a:ext cx="2099880" cy="378000"/>
          </a:xfrm>
          <a:custGeom>
            <a:avLst/>
            <a:gdLst>
              <a:gd name="textAreaLeft" fmla="*/ 0 w 2099880"/>
              <a:gd name="textAreaRight" fmla="*/ 2100240 w 2099880"/>
              <a:gd name="textAreaTop" fmla="*/ 0 h 378000"/>
              <a:gd name="textAreaBottom" fmla="*/ 378360 h 378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algn="r">
              <a:lnSpc>
                <a:spcPct val="100000"/>
              </a:lnSpc>
            </a:pPr>
            <a:fld id="{B22CEFE2-BF75-4BC1-B923-003729324431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 Regular"/>
              </a:rPr>
              <a:t>61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756000" y="542160"/>
            <a:ext cx="8568000" cy="867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756000" y="1637640"/>
            <a:ext cx="8568000" cy="34020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>
              <a:lnSpc>
                <a:spcPct val="100000"/>
              </a:lnSpc>
              <a:spcBef>
                <a:spcPts val="6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Kriptografi kunci-publik didasarkan pada fakta: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100000"/>
              </a:lnSpc>
              <a:spcBef>
                <a:spcPts val="694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Komputasi untuk enkripsi/dekripsi pesan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100000"/>
              </a:lnSpc>
              <a:spcBef>
                <a:spcPts val="694"/>
              </a:spcBef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mudah dilakukan.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100000"/>
              </a:lnSpc>
              <a:spcBef>
                <a:spcPts val="694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Secara komputasi hampir tidak mungkin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100000"/>
              </a:lnSpc>
              <a:spcBef>
                <a:spcPts val="694"/>
              </a:spcBef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(</a:t>
            </a:r>
            <a:r>
              <a:rPr lang="en-US" sz="28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infeasible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 menurunkan kunci privat, </a:t>
            </a:r>
            <a:r>
              <a:rPr lang="en-US" sz="28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100000"/>
              </a:lnSpc>
              <a:spcBef>
                <a:spcPts val="694"/>
              </a:spcBef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bila diketahui kunci publik, </a:t>
            </a:r>
            <a:r>
              <a:rPr lang="en-US" sz="28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/>
          </p:nvPr>
        </p:nvSpPr>
        <p:spPr>
          <a:xfrm>
            <a:off x="755280" y="377640"/>
            <a:ext cx="8904240" cy="46620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 lnSpcReduction="9999"/>
          </a:bodyPr>
          <a:p>
            <a:pPr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Pembangkitan sepasang kunci pada kriptografi kunci-publik didasarkan pada persoalan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integer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klasik sebagai berikut: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Pemfaktoran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Diberikan bilangan bulat </a:t>
            </a:r>
            <a:r>
              <a:rPr lang="en-US" sz="2000" b="0" i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n.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Faktorkan </a:t>
            </a:r>
            <a:r>
              <a:rPr lang="en-US" sz="2000" b="0" i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menjadi factor-faktor primanya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Contoh: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 10 = 2 * 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 60 = 2 * 2 * 3 * 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 252601 = 41 * 61 * 101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 2</a:t>
            </a:r>
            <a:r>
              <a:rPr lang="en-US" sz="2310" b="0" u="none" strike="noStrike" baseline="30000">
                <a:solidFill>
                  <a:srgbClr val="000000"/>
                </a:solidFill>
                <a:effectLst/>
                <a:uFillTx/>
                <a:latin typeface="Arial"/>
              </a:rPr>
              <a:t>13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– 1 = 3391 * 23279 * 65993 * 1868569 *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        1066818132868207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Semakin besar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semakin sulit memfaktorkan (butuh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waktu sangat lama).                      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Algoritma yang menggunakan prinsip ini: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RSA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lide Number Placeholder 5"/>
          <p:cNvSpPr/>
          <p:nvPr/>
        </p:nvSpPr>
        <p:spPr>
          <a:xfrm>
            <a:off x="7223760" y="5166000"/>
            <a:ext cx="2099880" cy="378000"/>
          </a:xfrm>
          <a:custGeom>
            <a:avLst/>
            <a:gdLst>
              <a:gd name="textAreaLeft" fmla="*/ 0 w 2099880"/>
              <a:gd name="textAreaRight" fmla="*/ 2100240 w 2099880"/>
              <a:gd name="textAreaTop" fmla="*/ 0 h 378000"/>
              <a:gd name="textAreaBottom" fmla="*/ 378360 h 378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 fontScale="85000" lnSpcReduction="9999"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1"/>
          <p:cNvSpPr>
            <a:spLocks noGrp="1"/>
          </p:cNvSpPr>
          <p:nvPr>
            <p:ph/>
          </p:nvPr>
        </p:nvSpPr>
        <p:spPr>
          <a:xfrm>
            <a:off x="756000" y="567000"/>
            <a:ext cx="8568000" cy="44730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342720" indent="-342720">
              <a:lnSpc>
                <a:spcPct val="9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2.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Logaritma diskrit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     Temukan </a:t>
            </a:r>
            <a:r>
              <a:rPr lang="en-US" sz="2000" b="0" i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x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sedemikian sehingga </a:t>
            </a:r>
            <a:r>
              <a:rPr lang="en-US" sz="2000" b="0" i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a</a:t>
            </a:r>
            <a:r>
              <a:rPr lang="en-US" sz="2310" b="0" i="1" u="none" strike="noStrike" baseline="30000">
                <a:solidFill>
                  <a:srgbClr val="ff0000"/>
                </a:solidFill>
                <a:effectLst/>
                <a:uFillTx/>
                <a:latin typeface="Arial"/>
              </a:rPr>
              <a:t>x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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i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b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(mod </a:t>
            </a:r>
            <a:r>
              <a:rPr lang="en-US" sz="2000" b="0" i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)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	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sulit dihitung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Contoh: jika 3</a:t>
            </a:r>
            <a:r>
              <a:rPr lang="en-US" sz="2310" b="0" i="1" u="none" strike="noStrike" baseline="30000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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15 (mod 17) maka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 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Semakin besar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dan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semakin sulit memfaktorkan (butuh waktu lama).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Algoritma yang menggunakan prinsip ini: ElGamal,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DSA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Catatan: Persoalan logaritma diskrit adalah kebalikan dari persoalan perpangkatan modular: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310" b="0" i="1" u="none" strike="noStrike" baseline="30000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mudah  dihitung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/>
          </p:nvPr>
        </p:nvSpPr>
        <p:spPr>
          <a:xfrm>
            <a:off x="756000" y="630000"/>
            <a:ext cx="8568000" cy="440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342720" indent="-342720">
              <a:lnSpc>
                <a:spcPct val="100000"/>
              </a:lnSpc>
              <a:spcBef>
                <a:spcPts val="694"/>
              </a:spcBef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800" b="1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Elliptic Curve Discrete Logarithm Problem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(</a:t>
            </a:r>
            <a:r>
              <a:rPr lang="en-US" sz="2800" b="1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ECDLP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100000"/>
              </a:lnSpc>
              <a:spcBef>
                <a:spcPts val="694"/>
              </a:spcBef>
              <a:buNone/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100000"/>
              </a:lnSpc>
              <a:spcBef>
                <a:spcPts val="649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	</a:t>
            </a:r>
            <a:r>
              <a:rPr lang="en-US" sz="26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Diberikan </a:t>
            </a:r>
            <a:r>
              <a:rPr lang="en-US" sz="2600" b="0" i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P</a:t>
            </a:r>
            <a:r>
              <a:rPr lang="en-US" sz="26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dan </a:t>
            </a:r>
            <a:r>
              <a:rPr lang="en-US" sz="2600" b="0" i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Q</a:t>
            </a:r>
            <a:r>
              <a:rPr lang="en-US" sz="26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adalah dua buah titik di kurva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100000"/>
              </a:lnSpc>
              <a:spcBef>
                <a:spcPts val="649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26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	</a:t>
            </a:r>
            <a:r>
              <a:rPr lang="en-US" sz="26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eliptik, carilah integer </a:t>
            </a:r>
            <a:r>
              <a:rPr lang="en-US" sz="2600" b="0" i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n</a:t>
            </a:r>
            <a:r>
              <a:rPr lang="en-US" sz="26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sedemikian sehingga </a:t>
            </a:r>
            <a:r>
              <a:rPr lang="en-US" sz="2600" b="0" i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P</a:t>
            </a:r>
            <a:r>
              <a:rPr lang="en-US" sz="26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= </a:t>
            </a:r>
            <a:r>
              <a:rPr lang="en-US" sz="2600" b="0" i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n Q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100000"/>
              </a:lnSpc>
              <a:spcBef>
                <a:spcPts val="649"/>
              </a:spcBef>
              <a:buNone/>
            </a:pPr>
            <a:r>
              <a:rPr lang="en-US" sz="2600" b="0" i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100000"/>
              </a:lnSpc>
              <a:spcBef>
                <a:spcPts val="694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Algoritma yang menggunakan prinsip ini: </a:t>
            </a:r>
            <a:r>
              <a:rPr lang="en-US" sz="28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Elliptic Curve Cryptography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(ECC)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100000"/>
              </a:lnSpc>
              <a:spcBef>
                <a:spcPts val="694"/>
              </a:spcBef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lide Number Placeholder 4"/>
          <p:cNvSpPr/>
          <p:nvPr/>
        </p:nvSpPr>
        <p:spPr>
          <a:xfrm>
            <a:off x="7223760" y="5166000"/>
            <a:ext cx="2099880" cy="378000"/>
          </a:xfrm>
          <a:custGeom>
            <a:avLst/>
            <a:gdLst>
              <a:gd name="textAreaLeft" fmla="*/ 0 w 2099880"/>
              <a:gd name="textAreaRight" fmla="*/ 2100240 w 2099880"/>
              <a:gd name="textAreaTop" fmla="*/ 0 h 378000"/>
              <a:gd name="textAreaBottom" fmla="*/ 378360 h 378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 fontScale="85000" lnSpcReduction="9999"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Picture 3"/>
          <p:cNvPicPr/>
          <p:nvPr/>
        </p:nvPicPr>
        <p:blipFill>
          <a:blip r:embed="rId1"/>
          <a:stretch/>
        </p:blipFill>
        <p:spPr>
          <a:xfrm>
            <a:off x="1260000" y="881640"/>
            <a:ext cx="7756200" cy="403200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/>
          </p:nvPr>
        </p:nvSpPr>
        <p:spPr>
          <a:xfrm>
            <a:off x="756000" y="755640"/>
            <a:ext cx="8568000" cy="42840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>
              <a:lnSpc>
                <a:spcPct val="100000"/>
              </a:lnSpc>
              <a:spcBef>
                <a:spcPts val="6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Analogi kriptografi kunci-simetri dan kriptografi kunci-publik dengan kotak surat yang dapat dikunci dengan gembok.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94"/>
              </a:spcBef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Kriptografi kunci-simetri: Alice dan Bob memiliki kunci gembok yang sama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94"/>
              </a:spcBef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Kriptografi kunci-publik: Bob mengirimi Alice gembok dalam keadaan tidak terkunci (gembok = kunci publik Bob, kunci gembok = kunci privat Bob).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94"/>
              </a:spcBef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Permasalahan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RSA didasarkan pada ‘kepercayaan’ bahwa pemfaktoran ‘sulit’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Tidak pernah dibuktikan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Bilangan prima yang digunakan semakin besar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Banyak penelitian yang dilakukan untuk faktorisasi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Penggunaan komputasi quantum akan membuat RSA kadaluarsa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Dapat digunakan </a:t>
            </a:r>
            <a:r>
              <a:rPr lang="en-US" sz="2400" b="0" u="none" strike="noStrike">
                <a:solidFill>
                  <a:srgbClr val="ce181e"/>
                </a:solidFill>
                <a:effectLst/>
                <a:uFillTx/>
                <a:latin typeface="Arial"/>
              </a:rPr>
              <a:t>elliptical curve cryptography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(ECC)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504000" y="241200"/>
            <a:ext cx="9072000" cy="11448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Elliptic Curve (Kurva Eliptik)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504000" y="1575000"/>
            <a:ext cx="9072000" cy="34020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t">
            <a:normAutofit lnSpcReduction="9999"/>
          </a:bodyPr>
          <a:p>
            <a:pPr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Jika diketahui a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∈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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ℝ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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∈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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ℝ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konstan sehingga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4a³ + 27b²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≠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0.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Non-singular elliptic curve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adalah set </a:t>
            </a:r>
            <a:r>
              <a:rPr lang="en-US" sz="28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dari solusi (x,y)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∈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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ℝ x ℝ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terhadap persamaan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y² = x³ + ax + b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90000"/>
              </a:lnSpc>
              <a:spcBef>
                <a:spcPts val="799"/>
              </a:spcBef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90000"/>
              </a:lnSpc>
              <a:spcBef>
                <a:spcPts val="799"/>
              </a:spcBef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bersama dengan titik spesial </a:t>
            </a:r>
            <a:r>
              <a:rPr lang="en-US" sz="28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disebut point at infinity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504000" y="241200"/>
            <a:ext cx="9072000" cy="11448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Singular Elliptic Curve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504000" y="1575000"/>
            <a:ext cx="9072000" cy="34020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t">
            <a:normAutofit/>
          </a:bodyPr>
          <a:p>
            <a:pPr>
              <a:lnSpc>
                <a:spcPct val="80000"/>
              </a:lnSpc>
              <a:spcBef>
                <a:spcPts val="6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Jika diketahui 4a³ + 27b²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=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0, didapatkan </a:t>
            </a:r>
            <a:r>
              <a:rPr lang="en-US" sz="28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singular elliptic curve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6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Dapat berdampak pada tidak dihasilkan 3 akar berbeda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6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Sehingga perlu digunakan non-singular elliptic curve dengan kondisi 4a³ + 27b²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≠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0 untuk memastikan bahwa didapatkan 3 akar berbeda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6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Memungkinkan untuk menentukan set solusi E sebagai sebuah grup Abelian.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504000" y="241200"/>
            <a:ext cx="9072000" cy="11448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Group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/>
          </p:nvPr>
        </p:nvSpPr>
        <p:spPr>
          <a:xfrm>
            <a:off x="504000" y="1575000"/>
            <a:ext cx="9072000" cy="34020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t">
            <a:normAutofit lnSpcReduction="9999"/>
          </a:bodyPr>
          <a:p>
            <a:pPr>
              <a:lnSpc>
                <a:spcPct val="7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Jika dimiliki sebuah operasi biner, misalnya penjumlahan (+), yang ditentukan untuk setiap anggota pada set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yang dinotasikan dengan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(G,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+)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adalah sebuah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group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untuk penjumlahan jika kondisi di bawah terpenuhi: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09480" indent="-609480">
              <a:lnSpc>
                <a:spcPct val="70000"/>
              </a:lnSpc>
              <a:spcBef>
                <a:spcPts val="499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1.) </a:t>
            </a:r>
            <a:r>
              <a:rPr lang="en-US" sz="2000" b="1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is </a:t>
            </a:r>
            <a:r>
              <a:rPr lang="en-US" sz="2000" b="1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closed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under addition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x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∈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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y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∈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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09480" indent="-609480">
              <a:lnSpc>
                <a:spcPct val="70000"/>
              </a:lnSpc>
              <a:spcBef>
                <a:spcPts val="499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imply x + y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∈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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09480" indent="-609480">
              <a:lnSpc>
                <a:spcPct val="70000"/>
              </a:lnSpc>
              <a:spcBef>
                <a:spcPts val="499"/>
              </a:spcBef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2.)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+ is associative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Untuk seluruh x, y, z,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∈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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09480" lvl="1" indent="-609480">
              <a:lnSpc>
                <a:spcPct val="70000"/>
              </a:lnSpc>
              <a:spcBef>
                <a:spcPts val="1414"/>
              </a:spcBef>
              <a:buClr>
                <a:srgbClr val="ffffff"/>
              </a:buClr>
              <a:buFont typeface="Tahoma"/>
              <a:buChar char="–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 + (y + z) = (x + y) + 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09480" indent="-609480">
              <a:lnSpc>
                <a:spcPct val="70000"/>
              </a:lnSpc>
              <a:spcBef>
                <a:spcPts val="499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3.) </a:t>
            </a:r>
            <a:r>
              <a:rPr lang="en-US" sz="2000" b="1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has an identity element </a:t>
            </a:r>
            <a:r>
              <a:rPr lang="en-US" sz="2000" b="1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 Terdapat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pada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sehingga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09480" lvl="1" indent="-609480">
              <a:lnSpc>
                <a:spcPct val="70000"/>
              </a:lnSpc>
              <a:spcBef>
                <a:spcPts val="1414"/>
              </a:spcBef>
              <a:buClr>
                <a:srgbClr val="ffffff"/>
              </a:buClr>
              <a:buFont typeface="Tahoma"/>
              <a:buChar char="–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= 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+ x = x untuk seluruh x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∈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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09480" indent="-609480">
              <a:lnSpc>
                <a:spcPct val="70000"/>
              </a:lnSpc>
              <a:spcBef>
                <a:spcPts val="499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4.) </a:t>
            </a:r>
            <a:r>
              <a:rPr lang="en-US" sz="2000" b="1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contains inverses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 Untuk setiap x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∈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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terdapat y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∈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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sehingga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09480" lvl="1" indent="-609480">
              <a:lnSpc>
                <a:spcPct val="70000"/>
              </a:lnSpc>
              <a:spcBef>
                <a:spcPts val="1414"/>
              </a:spcBef>
              <a:buClr>
                <a:srgbClr val="ffffff"/>
              </a:buClr>
              <a:buFont typeface="Tahoma"/>
              <a:buChar char="–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 + y = y + x =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70000"/>
              </a:lnSpc>
              <a:spcBef>
                <a:spcPts val="499"/>
              </a:spcBef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504000" y="241200"/>
            <a:ext cx="9072000" cy="11448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Grup Abelian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/>
          </p:nvPr>
        </p:nvSpPr>
        <p:spPr>
          <a:xfrm>
            <a:off x="504000" y="1575000"/>
            <a:ext cx="9072000" cy="34020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t">
            <a:normAutofit/>
          </a:bodyPr>
          <a:p>
            <a:pPr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Grup Abelian memenuhi seluruh persyaratan dari grup, terapi juga harus memenuhi: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100000"/>
              </a:lnSpc>
              <a:spcBef>
                <a:spcPts val="799"/>
              </a:spcBef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100000"/>
              </a:lnSpc>
              <a:spcBef>
                <a:spcPts val="799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5.)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+ is commutative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Untuk seluruh x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∈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</a:t>
            </a: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y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∈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</a:t>
            </a: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x + y = y + x.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100000"/>
              </a:lnSpc>
              <a:spcBef>
                <a:spcPts val="799"/>
              </a:spcBef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100000"/>
              </a:lnSpc>
              <a:spcBef>
                <a:spcPts val="799"/>
              </a:spcBef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504000" y="241200"/>
            <a:ext cx="9072000" cy="11448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 Cases for Solutions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/>
          </p:nvPr>
        </p:nvSpPr>
        <p:spPr>
          <a:xfrm>
            <a:off x="504000" y="1575000"/>
            <a:ext cx="9072000" cy="34020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t">
            <a:normAutofit fontScale="85000" lnSpcReduction="9999"/>
          </a:bodyPr>
          <a:p>
            <a:pPr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Suppose P, Q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∈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</a:t>
            </a:r>
            <a:r>
              <a:rPr lang="en-US" sz="28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where P = (x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,y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 and Q = (x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,y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 must consider three cases: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1.)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≠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2.)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=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and y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 - y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2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3.) x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=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and y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  y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90000"/>
              </a:lnSpc>
              <a:spcBef>
                <a:spcPts val="799"/>
              </a:spcBef>
              <a:buNone/>
            </a:pP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These cases must be considered when defining “addition” for our solution set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504000" y="241200"/>
            <a:ext cx="9072000" cy="11448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Defining Addition on </a:t>
            </a:r>
            <a:r>
              <a:rPr lang="en-US" sz="44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Case 1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504000" y="1575000"/>
            <a:ext cx="9072000" cy="34020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t">
            <a:normAutofit/>
          </a:bodyPr>
          <a:p>
            <a:pPr marL="342720" indent="-342720">
              <a:lnSpc>
                <a:spcPct val="70000"/>
              </a:lnSpc>
              <a:spcBef>
                <a:spcPts val="694"/>
              </a:spcBef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the case x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≠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addition is defined as follows: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70000"/>
              </a:lnSpc>
              <a:spcBef>
                <a:spcPts val="694"/>
              </a:spcBef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70000"/>
              </a:lnSpc>
              <a:spcBef>
                <a:spcPts val="694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(x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,y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 + (x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,y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 = (x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,y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∈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</a:t>
            </a:r>
            <a:r>
              <a:rPr lang="en-US" sz="28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where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70000"/>
              </a:lnSpc>
              <a:spcBef>
                <a:spcPts val="694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70000"/>
              </a:lnSpc>
              <a:spcBef>
                <a:spcPts val="694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x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3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= </a:t>
            </a:r>
            <a:r>
              <a:rPr lang="el-G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λ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² -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x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70000"/>
              </a:lnSpc>
              <a:spcBef>
                <a:spcPts val="694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y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3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= </a:t>
            </a:r>
            <a:r>
              <a:rPr lang="el-G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λ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– x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 - y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and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70000"/>
              </a:lnSpc>
              <a:spcBef>
                <a:spcPts val="694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</a:t>
            </a:r>
            <a:r>
              <a:rPr lang="el-G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λ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 (y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– y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 /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(x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– x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70000"/>
              </a:lnSpc>
              <a:spcBef>
                <a:spcPts val="694"/>
              </a:spcBef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504000" y="241200"/>
            <a:ext cx="9072000" cy="11448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Defining Addition on </a:t>
            </a:r>
            <a:r>
              <a:rPr lang="en-US" sz="44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Case 2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/>
          </p:nvPr>
        </p:nvSpPr>
        <p:spPr>
          <a:xfrm>
            <a:off x="504000" y="1575000"/>
            <a:ext cx="9072000" cy="34020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342720" indent="-342720">
              <a:lnSpc>
                <a:spcPct val="80000"/>
              </a:lnSpc>
              <a:spcBef>
                <a:spcPts val="799"/>
              </a:spcBef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the case x</a:t>
            </a:r>
            <a:r>
              <a:rPr lang="en-US" sz="3696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=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en-US" sz="3696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and y</a:t>
            </a:r>
            <a:r>
              <a:rPr lang="en-US" sz="3696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 - y</a:t>
            </a:r>
            <a:r>
              <a:rPr lang="en-US" sz="3696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2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addition is defined as follows: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80000"/>
              </a:lnSpc>
              <a:spcBef>
                <a:spcPts val="799"/>
              </a:spcBef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80000"/>
              </a:lnSpc>
              <a:spcBef>
                <a:spcPts val="799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(x</a:t>
            </a:r>
            <a:r>
              <a:rPr lang="en-US" sz="3696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,y</a:t>
            </a:r>
            <a:r>
              <a:rPr lang="en-US" sz="3696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 + (x</a:t>
            </a:r>
            <a:r>
              <a:rPr lang="en-US" sz="3696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,y</a:t>
            </a:r>
            <a:r>
              <a:rPr lang="en-US" sz="3696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 = (x</a:t>
            </a:r>
            <a:r>
              <a:rPr lang="en-US" sz="3696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,y</a:t>
            </a:r>
            <a:r>
              <a:rPr lang="en-US" sz="3696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∈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</a:t>
            </a: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where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80000"/>
              </a:lnSpc>
              <a:spcBef>
                <a:spcPts val="799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80000"/>
              </a:lnSpc>
              <a:spcBef>
                <a:spcPts val="799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(x,y) + (x,-y) = </a:t>
            </a: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the point at infinity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80000"/>
              </a:lnSpc>
              <a:spcBef>
                <a:spcPts val="901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504000" y="241200"/>
            <a:ext cx="9072000" cy="11448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Defining Addition on </a:t>
            </a:r>
            <a:r>
              <a:rPr lang="en-US" sz="44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Case 3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504000" y="1575000"/>
            <a:ext cx="9072000" cy="34020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t">
            <a:normAutofit/>
          </a:bodyPr>
          <a:p>
            <a:pPr marL="342720" indent="-342720">
              <a:lnSpc>
                <a:spcPct val="60000"/>
              </a:lnSpc>
              <a:spcBef>
                <a:spcPts val="799"/>
              </a:spcBef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the case x</a:t>
            </a:r>
            <a:r>
              <a:rPr lang="en-US" sz="3465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= 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en-US" sz="3465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and y</a:t>
            </a:r>
            <a:r>
              <a:rPr lang="en-US" sz="3465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  y</a:t>
            </a:r>
            <a:r>
              <a:rPr lang="en-US" sz="3465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addition is defined as follows: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60000"/>
              </a:lnSpc>
              <a:spcBef>
                <a:spcPts val="799"/>
              </a:spcBef>
              <a:buNone/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60000"/>
              </a:lnSpc>
              <a:spcBef>
                <a:spcPts val="799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(x</a:t>
            </a:r>
            <a:r>
              <a:rPr lang="en-US" sz="3465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,y</a:t>
            </a:r>
            <a:r>
              <a:rPr lang="en-US" sz="3465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 + (x</a:t>
            </a:r>
            <a:r>
              <a:rPr lang="en-US" sz="3465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,y</a:t>
            </a:r>
            <a:r>
              <a:rPr lang="en-US" sz="3465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 = (x</a:t>
            </a:r>
            <a:r>
              <a:rPr lang="en-US" sz="3465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,y</a:t>
            </a:r>
            <a:r>
              <a:rPr lang="en-US" sz="3465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 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∈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</a:t>
            </a:r>
            <a:r>
              <a:rPr lang="en-US" sz="3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where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60000"/>
              </a:lnSpc>
              <a:spcBef>
                <a:spcPts val="799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60000"/>
              </a:lnSpc>
              <a:spcBef>
                <a:spcPts val="799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x</a:t>
            </a:r>
            <a:r>
              <a:rPr lang="en-US" sz="3465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3 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= </a:t>
            </a:r>
            <a:r>
              <a:rPr lang="el-GR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λ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² - 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en-US" sz="3465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x</a:t>
            </a:r>
            <a:r>
              <a:rPr lang="en-US" sz="3465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60000"/>
              </a:lnSpc>
              <a:spcBef>
                <a:spcPts val="799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y</a:t>
            </a:r>
            <a:r>
              <a:rPr lang="en-US" sz="3465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3 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= </a:t>
            </a:r>
            <a:r>
              <a:rPr lang="el-GR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λ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en-US" sz="3465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– x</a:t>
            </a:r>
            <a:r>
              <a:rPr lang="en-US" sz="3465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 - y</a:t>
            </a:r>
            <a:r>
              <a:rPr lang="en-US" sz="3465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and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60000"/>
              </a:lnSpc>
              <a:spcBef>
                <a:spcPts val="799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</a:t>
            </a:r>
            <a:r>
              <a:rPr lang="el-GR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λ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 (3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en-US" sz="3465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en-US" sz="3465" b="0" u="none" strike="noStrike" baseline="30000">
                <a:solidFill>
                  <a:srgbClr val="000000"/>
                </a:solidFill>
                <a:effectLst/>
                <a:uFillTx/>
                <a:latin typeface="Arial"/>
              </a:rPr>
              <a:t>2 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+ a) / 2y</a:t>
            </a:r>
            <a:r>
              <a:rPr lang="en-US" sz="3465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60000"/>
              </a:lnSpc>
              <a:spcBef>
                <a:spcPts val="499"/>
              </a:spcBef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504000" y="241200"/>
            <a:ext cx="9072000" cy="11448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Defining the Identity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504000" y="1575000"/>
            <a:ext cx="9072000" cy="34020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t">
            <a:normAutofit/>
          </a:bodyPr>
          <a:p>
            <a:pPr>
              <a:lnSpc>
                <a:spcPct val="80000"/>
              </a:lnSpc>
              <a:spcBef>
                <a:spcPts val="6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point at infinity </a:t>
            </a:r>
            <a:r>
              <a:rPr lang="en-US" sz="28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is the identity element. P + </a:t>
            </a:r>
            <a:r>
              <a:rPr lang="en-US" sz="28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= </a:t>
            </a:r>
            <a:r>
              <a:rPr lang="en-US" sz="28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+ P = P, for all P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∈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</a:t>
            </a:r>
            <a:r>
              <a:rPr lang="en-US" sz="28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6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From Case 2, and the Identity Element, we now have the existence of inverses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6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Beyond the scope here to prove that we have commutativity and associativity as well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6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Therefore the set of solutions </a:t>
            </a:r>
            <a:r>
              <a:rPr lang="en-US" sz="28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forms an Abelian group (Importance of this will be shown later)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80000"/>
              </a:lnSpc>
              <a:spcBef>
                <a:spcPts val="694"/>
              </a:spcBef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504000" y="241200"/>
            <a:ext cx="9072000" cy="11448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Elliptic Curves modulo p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504000" y="1575000"/>
            <a:ext cx="9072000" cy="34020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t">
            <a:normAutofit/>
          </a:bodyPr>
          <a:p>
            <a:pPr>
              <a:lnSpc>
                <a:spcPct val="90000"/>
              </a:lnSpc>
              <a:spcBef>
                <a:spcPts val="6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Let p &gt; 3 be prime. The elliptic curve y² = x³ + ax + b over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ℤ</a:t>
            </a:r>
            <a:r>
              <a:rPr lang="en-US" sz="1963" b="0" u="none" strike="noStrike" baseline="-25000">
                <a:solidFill>
                  <a:srgbClr val="000000"/>
                </a:solidFill>
                <a:effectLst/>
                <a:uFillTx/>
                <a:latin typeface="Arial Unicode MS"/>
              </a:rPr>
              <a:t>p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is the set of solutions (x,y)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∈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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ℤ</a:t>
            </a:r>
            <a:r>
              <a:rPr lang="en-US" sz="1963" b="0" u="none" strike="noStrike" baseline="-25000">
                <a:solidFill>
                  <a:srgbClr val="000000"/>
                </a:solidFill>
                <a:effectLst/>
                <a:uFillTx/>
                <a:latin typeface="Arial Unicode MS"/>
              </a:rPr>
              <a:t>p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 x ℤ</a:t>
            </a:r>
            <a:r>
              <a:rPr lang="en-US" sz="1963" b="0" u="none" strike="noStrike" baseline="-25000">
                <a:solidFill>
                  <a:srgbClr val="000000"/>
                </a:solidFill>
                <a:effectLst/>
                <a:uFillTx/>
                <a:latin typeface="Arial Unicode MS"/>
              </a:rPr>
              <a:t>p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 to the congruence: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90000"/>
              </a:lnSpc>
              <a:spcBef>
                <a:spcPts val="799"/>
              </a:spcBef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y² 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≡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x³ + ax + b (mod p)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90000"/>
              </a:lnSpc>
              <a:spcBef>
                <a:spcPts val="451"/>
              </a:spcBef>
              <a:buNone/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90000"/>
              </a:lnSpc>
              <a:spcBef>
                <a:spcPts val="694"/>
              </a:spcBef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where a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∈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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ℤ</a:t>
            </a:r>
            <a:r>
              <a:rPr lang="en-US" sz="1963" b="0" u="none" strike="noStrike" baseline="-25000">
                <a:solidFill>
                  <a:srgbClr val="000000"/>
                </a:solidFill>
                <a:effectLst/>
                <a:uFillTx/>
                <a:latin typeface="Arial Unicode MS"/>
              </a:rPr>
              <a:t>p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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∈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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ℤ</a:t>
            </a:r>
            <a:r>
              <a:rPr lang="en-US" sz="1963" b="0" u="none" strike="noStrike" baseline="-25000">
                <a:solidFill>
                  <a:srgbClr val="000000"/>
                </a:solidFill>
                <a:effectLst/>
                <a:uFillTx/>
                <a:latin typeface="Arial Unicode MS"/>
              </a:rPr>
              <a:t>p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are constants such that 4a³ + 27b²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≢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 (mod p), together with a special point </a:t>
            </a:r>
            <a:r>
              <a:rPr lang="en-US" sz="26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called the </a:t>
            </a:r>
            <a:r>
              <a:rPr lang="en-US" sz="26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point at infinity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6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Solutions still form an Abelian group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504000" y="241200"/>
            <a:ext cx="9072000" cy="11448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Contoh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504000" y="1575000"/>
            <a:ext cx="9072000" cy="16416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t">
            <a:normAutofit/>
          </a:bodyPr>
          <a:p>
            <a:pPr>
              <a:lnSpc>
                <a:spcPct val="90000"/>
              </a:lnSpc>
              <a:spcBef>
                <a:spcPts val="6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Let’s examine the following elliptic curve as an example: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90000"/>
              </a:lnSpc>
              <a:spcBef>
                <a:spcPts val="694"/>
              </a:spcBef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y² = x³ + x + 6 over</a:t>
            </a: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ℤ</a:t>
            </a: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 Unicode MS"/>
              </a:rPr>
              <a:t>11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94"/>
              </a:spcBef>
              <a:buNone/>
            </a:pPr>
            <a:r>
              <a:rPr lang="en-US" sz="3234" b="0" u="none" strike="noStrike" baseline="-25000">
                <a:solidFill>
                  <a:srgbClr val="000000"/>
                </a:solidFill>
                <a:effectLst/>
                <a:uFillTx/>
                <a:latin typeface="Arial Unicode MS"/>
              </a:rPr>
              <a:t>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0" name="Table 3"/>
          <p:cNvGraphicFramePr/>
          <p:nvPr/>
        </p:nvGraphicFramePr>
        <p:xfrm>
          <a:off x="503640" y="3276000"/>
          <a:ext cx="9072000" cy="2197080"/>
        </p:xfrm>
        <a:graphic>
          <a:graphicData uri="http://schemas.openxmlformats.org/drawingml/2006/table">
            <a:tbl>
              <a:tblPr/>
              <a:tblGrid>
                <a:gridCol w="2351880"/>
                <a:gridCol w="671760"/>
                <a:gridCol w="671760"/>
                <a:gridCol w="587880"/>
                <a:gridCol w="587880"/>
                <a:gridCol w="587520"/>
                <a:gridCol w="587880"/>
                <a:gridCol w="587880"/>
                <a:gridCol w="587520"/>
                <a:gridCol w="672120"/>
                <a:gridCol w="587520"/>
                <a:gridCol w="590400"/>
              </a:tblGrid>
              <a:tr h="5079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X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0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1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2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3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4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5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6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7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8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9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10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771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x³ + x + 6 mod 11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6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8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5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3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8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4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8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4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9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7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4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574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94"/>
                        </a:spcBef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QR?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N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N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Y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Y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N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Y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N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Y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Y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N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Y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574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94"/>
                        </a:spcBef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Y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4,7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5,6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2,9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2,9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3,8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  <a:ea typeface="Noto Sans CJK SC Regular"/>
                        </a:rPr>
                        <a:t>2,9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504000" y="241200"/>
            <a:ext cx="9072000" cy="11448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Generating our group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/>
          </p:nvPr>
        </p:nvSpPr>
        <p:spPr>
          <a:xfrm>
            <a:off x="504000" y="1575000"/>
            <a:ext cx="9072000" cy="34020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t">
            <a:normAutofit/>
          </a:bodyPr>
          <a:p>
            <a:pPr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From the previous chart, and including the point at infinity </a:t>
            </a: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we have a group with 13 points.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Since the O(</a:t>
            </a: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 is prime, the group is cyclic.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 can generate the group by choosing any point other then the point at infinity.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Let our generator =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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 (2,7)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504000" y="241200"/>
            <a:ext cx="9072000" cy="11448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Group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504000" y="1575000"/>
            <a:ext cx="9072000" cy="34020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342720" indent="-342720">
              <a:lnSpc>
                <a:spcPct val="70000"/>
              </a:lnSpc>
              <a:spcBef>
                <a:spcPts val="799"/>
              </a:spcBef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We can generate this by using the rules of addition we defined earlier where </a:t>
            </a: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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70000"/>
              </a:lnSpc>
              <a:spcBef>
                <a:spcPts val="799"/>
              </a:spcBef>
              <a:buNone/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Symbol"/>
              </a:rPr>
              <a:t> 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70000"/>
              </a:lnSpc>
              <a:spcBef>
                <a:spcPts val="799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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70000"/>
              </a:lnSpc>
              <a:spcBef>
                <a:spcPts val="799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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70000"/>
              </a:lnSpc>
              <a:spcBef>
                <a:spcPts val="799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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70000"/>
              </a:lnSpc>
              <a:spcBef>
                <a:spcPts val="799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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504000" y="241200"/>
            <a:ext cx="9072000" cy="11448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Encryption Rules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504000" y="1575000"/>
            <a:ext cx="9072000" cy="34020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t">
            <a:normAutofit/>
          </a:bodyPr>
          <a:p>
            <a:pPr>
              <a:lnSpc>
                <a:spcPct val="80000"/>
              </a:lnSpc>
              <a:spcBef>
                <a:spcPts val="6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Suppose we let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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 (2,7) and choose the private key to be 7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6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then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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 7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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 (7,2)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6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Encryption: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80000"/>
              </a:lnSpc>
              <a:spcBef>
                <a:spcPts val="694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3003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(x,k) = (k(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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), x + k(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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80000"/>
              </a:lnSpc>
              <a:spcBef>
                <a:spcPts val="694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3003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(x,k) = (k(2,7), x+k(7,2)) ,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80000"/>
              </a:lnSpc>
              <a:spcBef>
                <a:spcPts val="694"/>
              </a:spcBef>
              <a:buNone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80000"/>
              </a:lnSpc>
              <a:spcBef>
                <a:spcPts val="694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where x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∈ </a:t>
            </a:r>
            <a:r>
              <a:rPr lang="en-US" sz="2600" b="0" i="1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E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0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≤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 Unicode MS"/>
              </a:rPr>
              <a:t>≤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12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504000" y="241200"/>
            <a:ext cx="9072000" cy="11448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Decryption Rule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/>
          </p:nvPr>
        </p:nvSpPr>
        <p:spPr>
          <a:xfrm>
            <a:off x="504000" y="1575000"/>
            <a:ext cx="9072000" cy="34020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t">
            <a:normAutofit lnSpcReduction="9999"/>
          </a:bodyPr>
          <a:p>
            <a:pPr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Decryption: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90000"/>
              </a:lnSpc>
              <a:spcBef>
                <a:spcPts val="1100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3465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(y</a:t>
            </a:r>
            <a:r>
              <a:rPr lang="en-US" sz="4736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en-US" sz="4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</a:t>
            </a:r>
            <a:r>
              <a:rPr lang="en-US" sz="4736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 = y</a:t>
            </a:r>
            <a:r>
              <a:rPr lang="en-US" sz="4736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2 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– K</a:t>
            </a:r>
            <a:r>
              <a:rPr lang="en-US" sz="3465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priv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</a:t>
            </a:r>
            <a:r>
              <a:rPr lang="en-US" sz="4736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endParaRPr lang="en-US" sz="4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90000"/>
              </a:lnSpc>
              <a:spcBef>
                <a:spcPts val="1100"/>
              </a:spcBef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d</a:t>
            </a:r>
            <a:r>
              <a:rPr lang="en-US" sz="3465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(y</a:t>
            </a:r>
            <a:r>
              <a:rPr lang="en-US" sz="4736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en-US" sz="4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</a:t>
            </a:r>
            <a:r>
              <a:rPr lang="en-US" sz="4736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 =  y</a:t>
            </a:r>
            <a:r>
              <a:rPr lang="en-US" sz="4736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2 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– 7y</a:t>
            </a:r>
            <a:r>
              <a:rPr lang="en-US" sz="4736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endParaRPr lang="en-US" sz="4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90000"/>
              </a:lnSpc>
              <a:spcBef>
                <a:spcPts val="1100"/>
              </a:spcBef>
              <a:buNone/>
            </a:pPr>
            <a:r>
              <a:rPr lang="en-US" sz="4736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4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based on the ElGamal scheme of elliptic curve encryption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504000" y="241200"/>
            <a:ext cx="9072000" cy="11448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Using this Scheme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/>
          </p:nvPr>
        </p:nvSpPr>
        <p:spPr>
          <a:xfrm>
            <a:off x="504000" y="1575000"/>
            <a:ext cx="9072000" cy="34020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t">
            <a:normAutofit lnSpcReduction="9999"/>
          </a:bodyPr>
          <a:p>
            <a:pPr>
              <a:lnSpc>
                <a:spcPct val="80000"/>
              </a:lnSpc>
              <a:spcBef>
                <a:spcPts val="6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Suppose Alice wants to send a message to Bob.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6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Plaintext is x = (10,9) which is a point in </a:t>
            </a:r>
            <a:r>
              <a:rPr lang="en-US" sz="26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6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Choose a random value for k, k = 3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6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 now calculate (y</a:t>
            </a:r>
            <a:r>
              <a:rPr lang="en-US" sz="427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en-US" sz="3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</a:t>
            </a:r>
            <a:r>
              <a:rPr lang="en-US" sz="427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):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6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</a:t>
            </a:r>
            <a:r>
              <a:rPr lang="en-US" sz="3003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en-US" sz="3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= 3(2,7) = (8,3)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6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</a:t>
            </a:r>
            <a:r>
              <a:rPr lang="en-US" sz="4274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en-US" sz="3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= (10,9) + 3(7,2) = (10,9) + (3,5) = (10,2)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6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Alice transmits y = ((8,3),(10,2))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504000" y="241200"/>
            <a:ext cx="9072000" cy="11448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Bob Decrypts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/>
          </p:nvPr>
        </p:nvSpPr>
        <p:spPr>
          <a:xfrm>
            <a:off x="504000" y="1575000"/>
            <a:ext cx="9072000" cy="34020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t">
            <a:normAutofit/>
          </a:bodyPr>
          <a:p>
            <a:pPr>
              <a:lnSpc>
                <a:spcPct val="8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Bob receives y = ((8,3),(10,2))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Calculates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80000"/>
              </a:lnSpc>
              <a:spcBef>
                <a:spcPts val="799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x = (10,2) – 7(8,3)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80000"/>
              </a:lnSpc>
              <a:spcBef>
                <a:spcPts val="799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= (10,2) – (3,5)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80000"/>
              </a:lnSpc>
              <a:spcBef>
                <a:spcPts val="799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= (10,2) + (3,6)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80000"/>
              </a:lnSpc>
              <a:spcBef>
                <a:spcPts val="799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= (10,9)  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80000"/>
              </a:lnSpc>
              <a:spcBef>
                <a:spcPts val="799"/>
              </a:spcBef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Which was the plaintext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504000" y="241200"/>
            <a:ext cx="9072000" cy="11448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Real example from the NSA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504000" y="1575000"/>
            <a:ext cx="9072000" cy="340200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6800" bIns="46800" anchor="t">
            <a:normAutofit/>
          </a:bodyPr>
          <a:p>
            <a:pPr>
              <a:lnSpc>
                <a:spcPct val="70000"/>
              </a:lnSpc>
              <a:spcBef>
                <a:spcPts val="45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Curve P-192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70000"/>
              </a:lnSpc>
              <a:spcBef>
                <a:spcPts val="451"/>
              </a:spcBef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70000"/>
              </a:lnSpc>
              <a:spcBef>
                <a:spcPts val="451"/>
              </a:spcBef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 = 62771017353866807638578942320766641608390870039024961279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70000"/>
              </a:lnSpc>
              <a:spcBef>
                <a:spcPts val="451"/>
              </a:spcBef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70000"/>
              </a:lnSpc>
              <a:spcBef>
                <a:spcPts val="451"/>
              </a:spcBef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 = 627710173538668076385789423176059013767194773182842284081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70000"/>
              </a:lnSpc>
              <a:spcBef>
                <a:spcPts val="451"/>
              </a:spcBef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70000"/>
              </a:lnSpc>
              <a:spcBef>
                <a:spcPts val="451"/>
              </a:spcBef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= 3099d2bb bfcb2538 542dcd5f b078b6ef 5f3d6fe2 c745de65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70000"/>
              </a:lnSpc>
              <a:spcBef>
                <a:spcPts val="451"/>
              </a:spcBef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70000"/>
              </a:lnSpc>
              <a:spcBef>
                <a:spcPts val="451"/>
              </a:spcBef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 = 64210519 e59c80e7 0fa7e9ab 72243049 feb8deec c146b9b1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70000"/>
              </a:lnSpc>
              <a:spcBef>
                <a:spcPts val="451"/>
              </a:spcBef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70000"/>
              </a:lnSpc>
              <a:spcBef>
                <a:spcPts val="451"/>
              </a:spcBef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79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 188da89e b03090f6 7cbf20eb 43a18800 f4ff0afd 82ff1012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70000"/>
              </a:lnSpc>
              <a:spcBef>
                <a:spcPts val="451"/>
              </a:spcBef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>
              <a:lnSpc>
                <a:spcPct val="70000"/>
              </a:lnSpc>
              <a:spcBef>
                <a:spcPts val="451"/>
              </a:spcBef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2079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y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 07192b95 ffc8da78 631011ed 6b24cdd5 73f977a1 1e794811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70000"/>
              </a:lnSpc>
              <a:spcBef>
                <a:spcPts val="451"/>
              </a:spcBef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361</TotalTime>
  <Application>LibreOffice/25.8.4.2$Linux_X86_64 LibreOffice_project/580$Build-2</Application>
  <AppVersion>15.0000</AppVersion>
  <Words>3874</Words>
  <Paragraphs>596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2018-08-26T22:56:21Z</dcterms:created>
  <dc:creator>omyud</dc:creator>
  <dc:description/>
  <dc:language>en-US</dc:language>
  <cp:lastModifiedBy>omyudha@gmail.com</cp:lastModifiedBy>
  <dcterms:modified xsi:type="dcterms:W3CDTF">2021-10-13T05:40:31Z</dcterms:modified>
  <cp:revision>56</cp:revision>
  <dc:subject/>
  <dc:title>PowerPoint Presentation</dc:title>
</cp:coreProperties>
</file>